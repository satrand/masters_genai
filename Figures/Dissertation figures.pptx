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301" r:id="rId2"/>
    <p:sldId id="303" r:id="rId3"/>
    <p:sldId id="298" r:id="rId4"/>
    <p:sldId id="289" r:id="rId5"/>
    <p:sldId id="302" r:id="rId6"/>
    <p:sldId id="291" r:id="rId7"/>
    <p:sldId id="293" r:id="rId8"/>
    <p:sldId id="272" r:id="rId9"/>
    <p:sldId id="285" r:id="rId10"/>
    <p:sldId id="297" r:id="rId11"/>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16"/>
    <p:restoredTop sz="95853"/>
  </p:normalViewPr>
  <p:slideViewPr>
    <p:cSldViewPr snapToGrid="0">
      <p:cViewPr>
        <p:scale>
          <a:sx n="146" d="100"/>
          <a:sy n="146" d="100"/>
        </p:scale>
        <p:origin x="-1760" y="-1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2B4C95-1C7B-A34A-AB19-84CA442F489B}" type="datetimeFigureOut">
              <a:rPr lang="en-JP" smtClean="0"/>
              <a:t>2026/07/15</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FA84CA-EE0F-2948-8D58-4BD886CAB867}" type="slidenum">
              <a:rPr lang="en-JP" smtClean="0"/>
              <a:t>‹#›</a:t>
            </a:fld>
            <a:endParaRPr lang="en-JP"/>
          </a:p>
        </p:txBody>
      </p:sp>
    </p:spTree>
    <p:extLst>
      <p:ext uri="{BB962C8B-B14F-4D97-AF65-F5344CB8AC3E}">
        <p14:creationId xmlns:p14="http://schemas.microsoft.com/office/powerpoint/2010/main" val="4156572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JP" dirty="0"/>
              <a:t>A. </a:t>
            </a:r>
            <a:r>
              <a:rPr lang="en-GB" dirty="0"/>
              <a:t>https://</a:t>
            </a:r>
            <a:r>
              <a:rPr lang="en-GB" dirty="0" err="1"/>
              <a:t>www.researchgate.net</a:t>
            </a:r>
            <a:r>
              <a:rPr lang="en-GB" dirty="0"/>
              <a:t>/figure/Common-secondary-and-tertiary-motifs-of-RNA-and-RNA-conformational-changes-in-RNP_fig1_322936039</a:t>
            </a:r>
          </a:p>
          <a:p>
            <a:r>
              <a:rPr lang="en-JP" dirty="0"/>
              <a:t>C. </a:t>
            </a:r>
            <a:r>
              <a:rPr lang="en-GB" dirty="0"/>
              <a:t>https://</a:t>
            </a:r>
            <a:r>
              <a:rPr lang="en-GB" dirty="0" err="1"/>
              <a:t>pubs.acs.org</a:t>
            </a:r>
            <a:r>
              <a:rPr lang="en-GB" dirty="0"/>
              <a:t>/</a:t>
            </a:r>
            <a:r>
              <a:rPr lang="en-GB" dirty="0" err="1"/>
              <a:t>doi</a:t>
            </a:r>
            <a:r>
              <a:rPr lang="en-GB" dirty="0"/>
              <a:t>/10.1021/ar200098t</a:t>
            </a:r>
          </a:p>
          <a:p>
            <a:r>
              <a:rPr lang="en-GB" dirty="0"/>
              <a:t>D. https://</a:t>
            </a:r>
            <a:r>
              <a:rPr lang="en-GB" dirty="0" err="1"/>
              <a:t>www.researchgate.net</a:t>
            </a:r>
            <a:r>
              <a:rPr lang="en-GB" dirty="0"/>
              <a:t>/figure/Common-secondary-and-tertiary-motifs-of-RNA-and-RNA-conformational-changes-in-RNP_fig1_322936039</a:t>
            </a:r>
            <a:endParaRPr lang="en-JP" dirty="0"/>
          </a:p>
        </p:txBody>
      </p:sp>
      <p:sp>
        <p:nvSpPr>
          <p:cNvPr id="4" name="Slide Number Placeholder 3"/>
          <p:cNvSpPr>
            <a:spLocks noGrp="1"/>
          </p:cNvSpPr>
          <p:nvPr>
            <p:ph type="sldNum" sz="quarter" idx="5"/>
          </p:nvPr>
        </p:nvSpPr>
        <p:spPr/>
        <p:txBody>
          <a:bodyPr/>
          <a:lstStyle/>
          <a:p>
            <a:fld id="{FB1E3588-4722-CE43-831F-ECBAF4C2D02D}" type="slidenum">
              <a:rPr lang="en-JP" smtClean="0"/>
              <a:t>1</a:t>
            </a:fld>
            <a:endParaRPr lang="en-JP"/>
          </a:p>
        </p:txBody>
      </p:sp>
    </p:spTree>
    <p:extLst>
      <p:ext uri="{BB962C8B-B14F-4D97-AF65-F5344CB8AC3E}">
        <p14:creationId xmlns:p14="http://schemas.microsoft.com/office/powerpoint/2010/main" val="3432552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validate my pipeline, I first visualized simple molecules in </a:t>
            </a:r>
            <a:r>
              <a:rPr lang="en-GB" dirty="0" err="1"/>
              <a:t>ChimeraX</a:t>
            </a:r>
            <a:r>
              <a:rPr lang="en-GB" dirty="0"/>
              <a:t> and examined their interaction fields. In CO₂, the oxygen atoms act as H-bond acceptors, giving only acceptor regions. Urea shows both H-bond donor and acceptor regions, with the NH groups acting as donors and the carbonyl oxygen as an acceptor. The </a:t>
            </a:r>
            <a:r>
              <a:rPr lang="en-GB" dirty="0" err="1"/>
              <a:t>azide</a:t>
            </a:r>
            <a:r>
              <a:rPr lang="en-GB" dirty="0"/>
              <a:t> ion shows strong H-bond acceptor character across the terminal nitrogen atoms due to its negative charge. Finally, tetramethylammonium shows only hydrophilic regions due to its positively charged nitrogen, with no H-bond donor or acceptor features. Overall, these results confirm that the pipeline correctly captures basic chemical features.</a:t>
            </a:r>
          </a:p>
          <a:p>
            <a:endParaRPr lang="en-GB" dirty="0"/>
          </a:p>
          <a:p>
            <a:endParaRPr lang="en-GB" dirty="0"/>
          </a:p>
        </p:txBody>
      </p:sp>
      <p:sp>
        <p:nvSpPr>
          <p:cNvPr id="4" name="Slide Number Placeholder 3"/>
          <p:cNvSpPr>
            <a:spLocks noGrp="1"/>
          </p:cNvSpPr>
          <p:nvPr>
            <p:ph type="sldNum" sz="quarter" idx="5"/>
          </p:nvPr>
        </p:nvSpPr>
        <p:spPr/>
        <p:txBody>
          <a:bodyPr/>
          <a:lstStyle/>
          <a:p>
            <a:fld id="{75285B78-B2ED-4143-BD04-D37922E857AC}" type="slidenum">
              <a:rPr lang="en-JP" smtClean="0"/>
              <a:t>4</a:t>
            </a:fld>
            <a:endParaRPr lang="en-JP"/>
          </a:p>
        </p:txBody>
      </p:sp>
    </p:spTree>
    <p:extLst>
      <p:ext uri="{BB962C8B-B14F-4D97-AF65-F5344CB8AC3E}">
        <p14:creationId xmlns:p14="http://schemas.microsoft.com/office/powerpoint/2010/main" val="3301805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D2F82-4C71-04CD-88E5-112237CCF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87AF6-D25D-ACA8-DE7F-1D9192D19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EC076-E38C-20DB-9523-5A857E1ED4E9}"/>
              </a:ext>
            </a:extLst>
          </p:cNvPr>
          <p:cNvSpPr>
            <a:spLocks noGrp="1"/>
          </p:cNvSpPr>
          <p:nvPr>
            <p:ph type="body" idx="1"/>
          </p:nvPr>
        </p:nvSpPr>
        <p:spPr/>
        <p:txBody>
          <a:bodyPr/>
          <a:lstStyle/>
          <a:p>
            <a:r>
              <a:rPr lang="en-GB" dirty="0"/>
              <a:t>Next, I looked at aromatic and planar molecules to check that the pipeline captures ring systems and functional groups correctly. Benzene shows clear aromatic stacking regions, which is what we’d expect from its delocalized </a:t>
            </a:r>
            <a:r>
              <a:rPr lang="el-GR" dirty="0"/>
              <a:t>π </a:t>
            </a:r>
            <a:r>
              <a:rPr lang="en-GB" dirty="0"/>
              <a:t>system. With phenol, we start to see hydrogen bonding — the OH group acts as both a donor via the hydrogen and an acceptor via the oxygen. Pyridine then introduces a nitrogen in the ring, and that’s correctly picked up as a hydrogen bond acceptor due to its lone pair. So overall, this shows the pipeline can handle aromaticity.</a:t>
            </a:r>
            <a:endParaRPr lang="en-JP" dirty="0"/>
          </a:p>
        </p:txBody>
      </p:sp>
      <p:sp>
        <p:nvSpPr>
          <p:cNvPr id="4" name="Slide Number Placeholder 3">
            <a:extLst>
              <a:ext uri="{FF2B5EF4-FFF2-40B4-BE49-F238E27FC236}">
                <a16:creationId xmlns:a16="http://schemas.microsoft.com/office/drawing/2014/main" id="{BFF23DC2-CD00-B2F7-0D55-6962C93600B8}"/>
              </a:ext>
            </a:extLst>
          </p:cNvPr>
          <p:cNvSpPr>
            <a:spLocks noGrp="1"/>
          </p:cNvSpPr>
          <p:nvPr>
            <p:ph type="sldNum" sz="quarter" idx="5"/>
          </p:nvPr>
        </p:nvSpPr>
        <p:spPr/>
        <p:txBody>
          <a:bodyPr/>
          <a:lstStyle/>
          <a:p>
            <a:fld id="{75285B78-B2ED-4143-BD04-D37922E857AC}" type="slidenum">
              <a:rPr lang="en-JP" smtClean="0"/>
              <a:t>6</a:t>
            </a:fld>
            <a:endParaRPr lang="en-JP"/>
          </a:p>
        </p:txBody>
      </p:sp>
    </p:spTree>
    <p:extLst>
      <p:ext uri="{BB962C8B-B14F-4D97-AF65-F5344CB8AC3E}">
        <p14:creationId xmlns:p14="http://schemas.microsoft.com/office/powerpoint/2010/main" val="1889156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EB40A-FF65-8EAC-94B2-35FB269F5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E54B6-2490-647C-D8A2-298C47BED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999D7-B9CB-C952-A1E0-2CE03B97B1E5}"/>
              </a:ext>
            </a:extLst>
          </p:cNvPr>
          <p:cNvSpPr>
            <a:spLocks noGrp="1"/>
          </p:cNvSpPr>
          <p:nvPr>
            <p:ph type="body" idx="1"/>
          </p:nvPr>
        </p:nvSpPr>
        <p:spPr/>
        <p:txBody>
          <a:bodyPr/>
          <a:lstStyle/>
          <a:p>
            <a:pPr algn="l" rtl="0">
              <a:buNone/>
            </a:pPr>
            <a:r>
              <a:rPr lang="en-GB" dirty="0"/>
              <a:t>I looked at more complex molecules with multiple functional groups. Guanidine contains a central carbon bonded to three nitrogen atoms. The hydrogen atoms attached directly to the nitrogen atoms act as the donors and the </a:t>
            </a:r>
            <a:r>
              <a:rPr lang="en-GB" b="0" i="0" dirty="0">
                <a:solidFill>
                  <a:srgbClr val="E6E8F0"/>
                </a:solidFill>
                <a:effectLst/>
                <a:latin typeface="Google Sans"/>
              </a:rPr>
              <a:t>electronegative nitrogen atoms with lone pairs of electrons, particularly the imine-like nitrogen (=N-) and amine </a:t>
            </a:r>
            <a:r>
              <a:rPr lang="en-GB" b="0" i="0" dirty="0" err="1">
                <a:solidFill>
                  <a:srgbClr val="E6E8F0"/>
                </a:solidFill>
                <a:effectLst/>
                <a:latin typeface="Google Sans"/>
              </a:rPr>
              <a:t>nitrogens</a:t>
            </a:r>
            <a:r>
              <a:rPr lang="en-GB" b="0" i="0" dirty="0">
                <a:solidFill>
                  <a:srgbClr val="E6E8F0"/>
                </a:solidFill>
                <a:effectLst/>
                <a:latin typeface="Google Sans"/>
              </a:rPr>
              <a:t> (-NH2), act as acceptors.</a:t>
            </a:r>
            <a:r>
              <a:rPr lang="en-GB" dirty="0"/>
              <a:t> </a:t>
            </a:r>
          </a:p>
          <a:p>
            <a:endParaRPr lang="en-GB" dirty="0"/>
          </a:p>
          <a:p>
            <a:r>
              <a:rPr lang="en-GB" dirty="0"/>
              <a:t>Phosphoric acid has several hydroxyl groups acting as donors and a phosphoryl oxygen acting as an acceptor. In contrast, chlorobenzene contains a chlorine-substituted aromatic ring with mostly C–H bonds, so it shows primarily hydrophobic regions with some weak polar character from the chlorine atom. </a:t>
            </a:r>
            <a:endParaRPr lang="en-JP" dirty="0"/>
          </a:p>
        </p:txBody>
      </p:sp>
      <p:sp>
        <p:nvSpPr>
          <p:cNvPr id="4" name="Slide Number Placeholder 3">
            <a:extLst>
              <a:ext uri="{FF2B5EF4-FFF2-40B4-BE49-F238E27FC236}">
                <a16:creationId xmlns:a16="http://schemas.microsoft.com/office/drawing/2014/main" id="{A8B4D87D-8702-0FDF-91B0-200A8161A31A}"/>
              </a:ext>
            </a:extLst>
          </p:cNvPr>
          <p:cNvSpPr>
            <a:spLocks noGrp="1"/>
          </p:cNvSpPr>
          <p:nvPr>
            <p:ph type="sldNum" sz="quarter" idx="5"/>
          </p:nvPr>
        </p:nvSpPr>
        <p:spPr/>
        <p:txBody>
          <a:bodyPr/>
          <a:lstStyle/>
          <a:p>
            <a:fld id="{75285B78-B2ED-4143-BD04-D37922E857AC}" type="slidenum">
              <a:rPr lang="en-JP" smtClean="0"/>
              <a:t>7</a:t>
            </a:fld>
            <a:endParaRPr lang="en-JP"/>
          </a:p>
        </p:txBody>
      </p:sp>
    </p:spTree>
    <p:extLst>
      <p:ext uri="{BB962C8B-B14F-4D97-AF65-F5344CB8AC3E}">
        <p14:creationId xmlns:p14="http://schemas.microsoft.com/office/powerpoint/2010/main" val="3977015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I looked at L-tryptophan as a more realistic, drug-like molecule. It contains an indole aromatic ring, which shows clear stacking regions, as well as both hydrogen bond donors and acceptors from the amine and carboxyl groups. The pipeline captures all of these features within a single molecule. This demonstrates that it can handle molecules with mixed functionality, similar to those we expect in real ligand datasets.</a:t>
            </a:r>
            <a:endParaRPr lang="en-JP" dirty="0"/>
          </a:p>
        </p:txBody>
      </p:sp>
      <p:sp>
        <p:nvSpPr>
          <p:cNvPr id="4" name="Slide Number Placeholder 3"/>
          <p:cNvSpPr>
            <a:spLocks noGrp="1"/>
          </p:cNvSpPr>
          <p:nvPr>
            <p:ph type="sldNum" sz="quarter" idx="5"/>
          </p:nvPr>
        </p:nvSpPr>
        <p:spPr/>
        <p:txBody>
          <a:bodyPr/>
          <a:lstStyle/>
          <a:p>
            <a:fld id="{75285B78-B2ED-4143-BD04-D37922E857AC}" type="slidenum">
              <a:rPr lang="en-JP" smtClean="0"/>
              <a:t>8</a:t>
            </a:fld>
            <a:endParaRPr lang="en-JP"/>
          </a:p>
        </p:txBody>
      </p:sp>
    </p:spTree>
    <p:extLst>
      <p:ext uri="{BB962C8B-B14F-4D97-AF65-F5344CB8AC3E}">
        <p14:creationId xmlns:p14="http://schemas.microsoft.com/office/powerpoint/2010/main" val="2773099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validate that the pipeline correctly captures 3D molecular geometry, I tested it on butane, which can adopt flexible conformations. I generated two conformers by controlling the central dihedral angle: the anti conformer (180°) and the gauche conformer (60°). After </a:t>
            </a:r>
            <a:r>
              <a:rPr lang="en-GB" dirty="0" err="1"/>
              <a:t>centering</a:t>
            </a:r>
            <a:r>
              <a:rPr lang="en-GB" dirty="0"/>
              <a:t> and aligning each conformer to its principal axes, I computed the bounding box. For the anti conformer, the largest extent is along X at 5.43 </a:t>
            </a:r>
            <a:r>
              <a:rPr lang="en-GB" dirty="0" err="1"/>
              <a:t>Å</a:t>
            </a:r>
            <a:r>
              <a:rPr lang="en-GB" dirty="0"/>
              <a:t> (angstrom), while Y and Z are smaller at 2.33 </a:t>
            </a:r>
            <a:r>
              <a:rPr lang="en-GB" dirty="0" err="1"/>
              <a:t>Å</a:t>
            </a:r>
            <a:r>
              <a:rPr lang="en-GB" dirty="0"/>
              <a:t> and 1.77 </a:t>
            </a:r>
            <a:r>
              <a:rPr lang="en-GB" dirty="0" err="1"/>
              <a:t>Å</a:t>
            </a:r>
            <a:r>
              <a:rPr lang="en-GB" dirty="0"/>
              <a:t>. The gauche conformer is slightly shorter along X at 5.14 </a:t>
            </a:r>
            <a:r>
              <a:rPr lang="en-GB" dirty="0" err="1"/>
              <a:t>Å</a:t>
            </a:r>
            <a:r>
              <a:rPr lang="en-GB" dirty="0"/>
              <a:t> but spreads more along Y and Z, 3.05 </a:t>
            </a:r>
            <a:r>
              <a:rPr lang="en-GB" dirty="0" err="1"/>
              <a:t>Å</a:t>
            </a:r>
            <a:r>
              <a:rPr lang="en-GB" dirty="0"/>
              <a:t> and 2.81 </a:t>
            </a:r>
            <a:r>
              <a:rPr lang="en-GB" dirty="0" err="1"/>
              <a:t>Å</a:t>
            </a:r>
            <a:r>
              <a:rPr lang="en-GB" dirty="0"/>
              <a:t>, reflecting its bent shape. The overlapped image visually highlights these differences, confirming that the bounding box calculation is sensitive to conformational changes.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JP" dirty="0"/>
          </a:p>
        </p:txBody>
      </p:sp>
      <p:sp>
        <p:nvSpPr>
          <p:cNvPr id="4" name="Slide Number Placeholder 3"/>
          <p:cNvSpPr>
            <a:spLocks noGrp="1"/>
          </p:cNvSpPr>
          <p:nvPr>
            <p:ph type="sldNum" sz="quarter" idx="5"/>
          </p:nvPr>
        </p:nvSpPr>
        <p:spPr/>
        <p:txBody>
          <a:bodyPr/>
          <a:lstStyle/>
          <a:p>
            <a:fld id="{75285B78-B2ED-4143-BD04-D37922E857AC}" type="slidenum">
              <a:rPr lang="en-JP" smtClean="0"/>
              <a:t>9</a:t>
            </a:fld>
            <a:endParaRPr lang="en-JP"/>
          </a:p>
        </p:txBody>
      </p:sp>
    </p:spTree>
    <p:extLst>
      <p:ext uri="{BB962C8B-B14F-4D97-AF65-F5344CB8AC3E}">
        <p14:creationId xmlns:p14="http://schemas.microsoft.com/office/powerpoint/2010/main" val="3215049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C9359-1F54-3F1A-CC45-B1B607AEBA8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JP"/>
          </a:p>
        </p:txBody>
      </p:sp>
      <p:sp>
        <p:nvSpPr>
          <p:cNvPr id="3" name="Subtitle 2">
            <a:extLst>
              <a:ext uri="{FF2B5EF4-FFF2-40B4-BE49-F238E27FC236}">
                <a16:creationId xmlns:a16="http://schemas.microsoft.com/office/drawing/2014/main" id="{0D66B2CE-6EE0-9366-4AFD-BE3B806BEA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JP"/>
          </a:p>
        </p:txBody>
      </p:sp>
      <p:sp>
        <p:nvSpPr>
          <p:cNvPr id="4" name="Date Placeholder 3">
            <a:extLst>
              <a:ext uri="{FF2B5EF4-FFF2-40B4-BE49-F238E27FC236}">
                <a16:creationId xmlns:a16="http://schemas.microsoft.com/office/drawing/2014/main" id="{0F0F69FB-0F0C-D246-346E-1C35B7BA91CE}"/>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5" name="Footer Placeholder 4">
            <a:extLst>
              <a:ext uri="{FF2B5EF4-FFF2-40B4-BE49-F238E27FC236}">
                <a16:creationId xmlns:a16="http://schemas.microsoft.com/office/drawing/2014/main" id="{6FBC41B7-4383-F768-8FC9-93F5BE3A190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5DA75209-A26A-D3D2-B4D1-A4BBFB6A904B}"/>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1443452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94B4-29A7-FF1F-EAB2-ABBD94CAD857}"/>
              </a:ext>
            </a:extLst>
          </p:cNvPr>
          <p:cNvSpPr>
            <a:spLocks noGrp="1"/>
          </p:cNvSpPr>
          <p:nvPr>
            <p:ph type="title"/>
          </p:nvPr>
        </p:nvSpPr>
        <p:spPr/>
        <p:txBody>
          <a:bodyPr/>
          <a:lstStyle/>
          <a:p>
            <a:r>
              <a:rPr lang="en-GB"/>
              <a:t>Click to edit Master title style</a:t>
            </a:r>
            <a:endParaRPr lang="en-JP"/>
          </a:p>
        </p:txBody>
      </p:sp>
      <p:sp>
        <p:nvSpPr>
          <p:cNvPr id="3" name="Content Placeholder 2">
            <a:extLst>
              <a:ext uri="{FF2B5EF4-FFF2-40B4-BE49-F238E27FC236}">
                <a16:creationId xmlns:a16="http://schemas.microsoft.com/office/drawing/2014/main" id="{A724664E-73B8-C0D2-8797-72FB6AD917A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JP"/>
          </a:p>
        </p:txBody>
      </p:sp>
      <p:sp>
        <p:nvSpPr>
          <p:cNvPr id="4" name="Date Placeholder 3">
            <a:extLst>
              <a:ext uri="{FF2B5EF4-FFF2-40B4-BE49-F238E27FC236}">
                <a16:creationId xmlns:a16="http://schemas.microsoft.com/office/drawing/2014/main" id="{6DBC5BBB-D06F-1C0A-739F-396BCE591DC8}"/>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5" name="Footer Placeholder 4">
            <a:extLst>
              <a:ext uri="{FF2B5EF4-FFF2-40B4-BE49-F238E27FC236}">
                <a16:creationId xmlns:a16="http://schemas.microsoft.com/office/drawing/2014/main" id="{16443E2D-FCFF-CB12-1152-068A3BC30A3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0760A664-A68E-5565-B428-944B349F747E}"/>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31629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C56A0-0533-ABDA-A440-359D8C1B416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JP"/>
          </a:p>
        </p:txBody>
      </p:sp>
      <p:sp>
        <p:nvSpPr>
          <p:cNvPr id="3" name="Text Placeholder 2">
            <a:extLst>
              <a:ext uri="{FF2B5EF4-FFF2-40B4-BE49-F238E27FC236}">
                <a16:creationId xmlns:a16="http://schemas.microsoft.com/office/drawing/2014/main" id="{C02A1119-DD83-1A44-F9D7-B694DB16D1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7E1F81D-429B-F01A-FB55-4EF14A0A8A87}"/>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5" name="Footer Placeholder 4">
            <a:extLst>
              <a:ext uri="{FF2B5EF4-FFF2-40B4-BE49-F238E27FC236}">
                <a16:creationId xmlns:a16="http://schemas.microsoft.com/office/drawing/2014/main" id="{A021AB5D-C9A9-9F90-3A31-D28C4FA7C0C0}"/>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E2640F48-8202-CFA1-82F6-EC71C3F393EF}"/>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1742864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BBC64-3665-1658-F193-57B28289117A}"/>
              </a:ext>
            </a:extLst>
          </p:cNvPr>
          <p:cNvSpPr>
            <a:spLocks noGrp="1"/>
          </p:cNvSpPr>
          <p:nvPr>
            <p:ph type="title"/>
          </p:nvPr>
        </p:nvSpPr>
        <p:spPr/>
        <p:txBody>
          <a:bodyPr/>
          <a:lstStyle/>
          <a:p>
            <a:r>
              <a:rPr lang="en-GB"/>
              <a:t>Click to edit Master title style</a:t>
            </a:r>
            <a:endParaRPr lang="en-JP"/>
          </a:p>
        </p:txBody>
      </p:sp>
      <p:sp>
        <p:nvSpPr>
          <p:cNvPr id="3" name="Content Placeholder 2">
            <a:extLst>
              <a:ext uri="{FF2B5EF4-FFF2-40B4-BE49-F238E27FC236}">
                <a16:creationId xmlns:a16="http://schemas.microsoft.com/office/drawing/2014/main" id="{5029A76A-D6EB-805F-CD75-2CD67586C1D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JP"/>
          </a:p>
        </p:txBody>
      </p:sp>
      <p:sp>
        <p:nvSpPr>
          <p:cNvPr id="4" name="Content Placeholder 3">
            <a:extLst>
              <a:ext uri="{FF2B5EF4-FFF2-40B4-BE49-F238E27FC236}">
                <a16:creationId xmlns:a16="http://schemas.microsoft.com/office/drawing/2014/main" id="{E852DE1B-72A8-2173-DC9A-57C5F0ECBAB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JP"/>
          </a:p>
        </p:txBody>
      </p:sp>
      <p:sp>
        <p:nvSpPr>
          <p:cNvPr id="5" name="Date Placeholder 4">
            <a:extLst>
              <a:ext uri="{FF2B5EF4-FFF2-40B4-BE49-F238E27FC236}">
                <a16:creationId xmlns:a16="http://schemas.microsoft.com/office/drawing/2014/main" id="{B38EB1C4-9B59-799D-9E5C-A4E359CED9B4}"/>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6" name="Footer Placeholder 5">
            <a:extLst>
              <a:ext uri="{FF2B5EF4-FFF2-40B4-BE49-F238E27FC236}">
                <a16:creationId xmlns:a16="http://schemas.microsoft.com/office/drawing/2014/main" id="{109F78F4-FD2C-3DE1-EC12-F9461F4E7D35}"/>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7743CD61-7B63-65E9-8E3B-E9D5C07D078C}"/>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1796895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A5766-8995-7B1D-E4CA-62B4ED6A4194}"/>
              </a:ext>
            </a:extLst>
          </p:cNvPr>
          <p:cNvSpPr>
            <a:spLocks noGrp="1"/>
          </p:cNvSpPr>
          <p:nvPr>
            <p:ph type="title"/>
          </p:nvPr>
        </p:nvSpPr>
        <p:spPr>
          <a:xfrm>
            <a:off x="839788" y="365125"/>
            <a:ext cx="10515600" cy="1325563"/>
          </a:xfrm>
        </p:spPr>
        <p:txBody>
          <a:bodyPr/>
          <a:lstStyle/>
          <a:p>
            <a:r>
              <a:rPr lang="en-GB"/>
              <a:t>Click to edit Master title style</a:t>
            </a:r>
            <a:endParaRPr lang="en-JP"/>
          </a:p>
        </p:txBody>
      </p:sp>
      <p:sp>
        <p:nvSpPr>
          <p:cNvPr id="3" name="Text Placeholder 2">
            <a:extLst>
              <a:ext uri="{FF2B5EF4-FFF2-40B4-BE49-F238E27FC236}">
                <a16:creationId xmlns:a16="http://schemas.microsoft.com/office/drawing/2014/main" id="{E25859F9-DD16-63EA-D816-F8A94BF089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CADD5DB-BFA0-84CB-E544-35A9D81FA7D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JP"/>
          </a:p>
        </p:txBody>
      </p:sp>
      <p:sp>
        <p:nvSpPr>
          <p:cNvPr id="5" name="Text Placeholder 4">
            <a:extLst>
              <a:ext uri="{FF2B5EF4-FFF2-40B4-BE49-F238E27FC236}">
                <a16:creationId xmlns:a16="http://schemas.microsoft.com/office/drawing/2014/main" id="{A6C0D500-70FA-4545-F8FC-211DD3DE66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B9AB070-B263-561A-B541-D2A5175D03E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JP"/>
          </a:p>
        </p:txBody>
      </p:sp>
      <p:sp>
        <p:nvSpPr>
          <p:cNvPr id="7" name="Date Placeholder 6">
            <a:extLst>
              <a:ext uri="{FF2B5EF4-FFF2-40B4-BE49-F238E27FC236}">
                <a16:creationId xmlns:a16="http://schemas.microsoft.com/office/drawing/2014/main" id="{3F47A60C-E33D-0A41-5BDC-720AA60BD5A5}"/>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8" name="Footer Placeholder 7">
            <a:extLst>
              <a:ext uri="{FF2B5EF4-FFF2-40B4-BE49-F238E27FC236}">
                <a16:creationId xmlns:a16="http://schemas.microsoft.com/office/drawing/2014/main" id="{52FBB157-5FE3-D5AD-99F0-95EC06BF867A}"/>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21037E02-5F1A-9475-B64C-3298820E937A}"/>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1665246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16DF-0FF4-6CBC-5F4A-ACCA9483B9B1}"/>
              </a:ext>
            </a:extLst>
          </p:cNvPr>
          <p:cNvSpPr>
            <a:spLocks noGrp="1"/>
          </p:cNvSpPr>
          <p:nvPr>
            <p:ph type="title"/>
          </p:nvPr>
        </p:nvSpPr>
        <p:spPr/>
        <p:txBody>
          <a:bodyPr/>
          <a:lstStyle/>
          <a:p>
            <a:r>
              <a:rPr lang="en-GB"/>
              <a:t>Click to edit Master title style</a:t>
            </a:r>
            <a:endParaRPr lang="en-JP"/>
          </a:p>
        </p:txBody>
      </p:sp>
      <p:sp>
        <p:nvSpPr>
          <p:cNvPr id="3" name="Date Placeholder 2">
            <a:extLst>
              <a:ext uri="{FF2B5EF4-FFF2-40B4-BE49-F238E27FC236}">
                <a16:creationId xmlns:a16="http://schemas.microsoft.com/office/drawing/2014/main" id="{4CFE94CE-A3F3-3797-7601-79A6AC2ABBE5}"/>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4" name="Footer Placeholder 3">
            <a:extLst>
              <a:ext uri="{FF2B5EF4-FFF2-40B4-BE49-F238E27FC236}">
                <a16:creationId xmlns:a16="http://schemas.microsoft.com/office/drawing/2014/main" id="{4EB096E6-79C2-2A49-437E-1E410632E713}"/>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ECAF769C-66DB-7A4E-DA04-557BE18916E3}"/>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1620360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1C68E1-DDF0-9920-48A5-A0A9930BC89D}"/>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3" name="Footer Placeholder 2">
            <a:extLst>
              <a:ext uri="{FF2B5EF4-FFF2-40B4-BE49-F238E27FC236}">
                <a16:creationId xmlns:a16="http://schemas.microsoft.com/office/drawing/2014/main" id="{E36F4C88-D90D-C8F5-6B8E-E479419C50C7}"/>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C0F236F1-066A-5E15-3B60-B0E18236CA00}"/>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47231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41A6A-FFF8-44F6-56DC-0C490EF5D9F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JP"/>
          </a:p>
        </p:txBody>
      </p:sp>
      <p:sp>
        <p:nvSpPr>
          <p:cNvPr id="3" name="Content Placeholder 2">
            <a:extLst>
              <a:ext uri="{FF2B5EF4-FFF2-40B4-BE49-F238E27FC236}">
                <a16:creationId xmlns:a16="http://schemas.microsoft.com/office/drawing/2014/main" id="{8F3289F2-E8CF-29A4-D3A9-105DC5B50F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JP"/>
          </a:p>
        </p:txBody>
      </p:sp>
      <p:sp>
        <p:nvSpPr>
          <p:cNvPr id="4" name="Text Placeholder 3">
            <a:extLst>
              <a:ext uri="{FF2B5EF4-FFF2-40B4-BE49-F238E27FC236}">
                <a16:creationId xmlns:a16="http://schemas.microsoft.com/office/drawing/2014/main" id="{9985121A-ED43-A5AB-C5C1-811D7D5B90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FD37B1-3D7B-DF97-4C7D-F2360DA36280}"/>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6" name="Footer Placeholder 5">
            <a:extLst>
              <a:ext uri="{FF2B5EF4-FFF2-40B4-BE49-F238E27FC236}">
                <a16:creationId xmlns:a16="http://schemas.microsoft.com/office/drawing/2014/main" id="{FC7EE564-13F6-B3E7-81CC-C0B053BCFE0A}"/>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BC0E36D2-35FF-1430-9C9C-BBA3A167EBE5}"/>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1219566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C43F0-EB37-30A9-6EE6-97589CD87D3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JP"/>
          </a:p>
        </p:txBody>
      </p:sp>
      <p:sp>
        <p:nvSpPr>
          <p:cNvPr id="3" name="Picture Placeholder 2">
            <a:extLst>
              <a:ext uri="{FF2B5EF4-FFF2-40B4-BE49-F238E27FC236}">
                <a16:creationId xmlns:a16="http://schemas.microsoft.com/office/drawing/2014/main" id="{CFE1194F-ACEA-5FA7-D0DE-5D1F1862A7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FFD7DB6E-45CA-253A-0209-FC5C3C1FE8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6BFE250-179A-54DE-0CD5-543116F1EE10}"/>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6" name="Footer Placeholder 5">
            <a:extLst>
              <a:ext uri="{FF2B5EF4-FFF2-40B4-BE49-F238E27FC236}">
                <a16:creationId xmlns:a16="http://schemas.microsoft.com/office/drawing/2014/main" id="{CCB51D24-0472-EBDA-F094-A4DA4A9F5FF3}"/>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51738238-9246-57C6-E000-CE23B42E1E4F}"/>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2991191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D95CE-3AA9-BF40-46DE-9ACAA195EDF5}"/>
              </a:ext>
            </a:extLst>
          </p:cNvPr>
          <p:cNvSpPr>
            <a:spLocks noGrp="1"/>
          </p:cNvSpPr>
          <p:nvPr>
            <p:ph type="title"/>
          </p:nvPr>
        </p:nvSpPr>
        <p:spPr/>
        <p:txBody>
          <a:bodyPr/>
          <a:lstStyle/>
          <a:p>
            <a:r>
              <a:rPr lang="en-GB"/>
              <a:t>Click to edit Master title style</a:t>
            </a:r>
            <a:endParaRPr lang="en-JP"/>
          </a:p>
        </p:txBody>
      </p:sp>
      <p:sp>
        <p:nvSpPr>
          <p:cNvPr id="3" name="Vertical Text Placeholder 2">
            <a:extLst>
              <a:ext uri="{FF2B5EF4-FFF2-40B4-BE49-F238E27FC236}">
                <a16:creationId xmlns:a16="http://schemas.microsoft.com/office/drawing/2014/main" id="{64721AF4-E938-4CA0-7AAC-2AA89691E24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JP"/>
          </a:p>
        </p:txBody>
      </p:sp>
      <p:sp>
        <p:nvSpPr>
          <p:cNvPr id="4" name="Date Placeholder 3">
            <a:extLst>
              <a:ext uri="{FF2B5EF4-FFF2-40B4-BE49-F238E27FC236}">
                <a16:creationId xmlns:a16="http://schemas.microsoft.com/office/drawing/2014/main" id="{0EF4FA40-EC69-600E-C359-32023492FB59}"/>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5" name="Footer Placeholder 4">
            <a:extLst>
              <a:ext uri="{FF2B5EF4-FFF2-40B4-BE49-F238E27FC236}">
                <a16:creationId xmlns:a16="http://schemas.microsoft.com/office/drawing/2014/main" id="{41479212-031D-3CB8-4933-3F3FA5DDF45C}"/>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5772934E-AC7E-A027-C696-EEBC6F7345C5}"/>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2775228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40A474-DB6D-F298-25E7-7929AAA299D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JP"/>
          </a:p>
        </p:txBody>
      </p:sp>
      <p:sp>
        <p:nvSpPr>
          <p:cNvPr id="3" name="Vertical Text Placeholder 2">
            <a:extLst>
              <a:ext uri="{FF2B5EF4-FFF2-40B4-BE49-F238E27FC236}">
                <a16:creationId xmlns:a16="http://schemas.microsoft.com/office/drawing/2014/main" id="{0B68E47F-296E-0782-C262-4D5828AFC7D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JP"/>
          </a:p>
        </p:txBody>
      </p:sp>
      <p:sp>
        <p:nvSpPr>
          <p:cNvPr id="4" name="Date Placeholder 3">
            <a:extLst>
              <a:ext uri="{FF2B5EF4-FFF2-40B4-BE49-F238E27FC236}">
                <a16:creationId xmlns:a16="http://schemas.microsoft.com/office/drawing/2014/main" id="{A8F5F3F9-3F0C-3319-63E7-A96876A1F02F}"/>
              </a:ext>
            </a:extLst>
          </p:cNvPr>
          <p:cNvSpPr>
            <a:spLocks noGrp="1"/>
          </p:cNvSpPr>
          <p:nvPr>
            <p:ph type="dt" sz="half" idx="10"/>
          </p:nvPr>
        </p:nvSpPr>
        <p:spPr/>
        <p:txBody>
          <a:bodyPr/>
          <a:lstStyle/>
          <a:p>
            <a:fld id="{8A315261-23CF-A646-A3F0-B51EFB1EE32A}" type="datetimeFigureOut">
              <a:rPr lang="en-JP" smtClean="0"/>
              <a:t>2026/07/15</a:t>
            </a:fld>
            <a:endParaRPr lang="en-JP"/>
          </a:p>
        </p:txBody>
      </p:sp>
      <p:sp>
        <p:nvSpPr>
          <p:cNvPr id="5" name="Footer Placeholder 4">
            <a:extLst>
              <a:ext uri="{FF2B5EF4-FFF2-40B4-BE49-F238E27FC236}">
                <a16:creationId xmlns:a16="http://schemas.microsoft.com/office/drawing/2014/main" id="{186459C8-1124-2854-7420-285CFD4D14B1}"/>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CD93D52F-D45A-6315-E090-D7D4A01123C1}"/>
              </a:ext>
            </a:extLst>
          </p:cNvPr>
          <p:cNvSpPr>
            <a:spLocks noGrp="1"/>
          </p:cNvSpPr>
          <p:nvPr>
            <p:ph type="sldNum" sz="quarter" idx="12"/>
          </p:nvPr>
        </p:nvSpPr>
        <p:spPr/>
        <p:txBody>
          <a:bodyPr/>
          <a:lstStyle/>
          <a:p>
            <a:fld id="{1A28D69D-E51C-CD4A-B17B-9473BE4ADDC4}" type="slidenum">
              <a:rPr lang="en-JP" smtClean="0"/>
              <a:t>‹#›</a:t>
            </a:fld>
            <a:endParaRPr lang="en-JP"/>
          </a:p>
        </p:txBody>
      </p:sp>
    </p:spTree>
    <p:extLst>
      <p:ext uri="{BB962C8B-B14F-4D97-AF65-F5344CB8AC3E}">
        <p14:creationId xmlns:p14="http://schemas.microsoft.com/office/powerpoint/2010/main" val="3482729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774628-7C3E-6BA9-9EFF-B11B2167C0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JP"/>
          </a:p>
        </p:txBody>
      </p:sp>
      <p:sp>
        <p:nvSpPr>
          <p:cNvPr id="3" name="Text Placeholder 2">
            <a:extLst>
              <a:ext uri="{FF2B5EF4-FFF2-40B4-BE49-F238E27FC236}">
                <a16:creationId xmlns:a16="http://schemas.microsoft.com/office/drawing/2014/main" id="{D9D0C6D4-D2C4-5EEF-576C-DDB914BAF1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JP"/>
          </a:p>
        </p:txBody>
      </p:sp>
      <p:sp>
        <p:nvSpPr>
          <p:cNvPr id="4" name="Date Placeholder 3">
            <a:extLst>
              <a:ext uri="{FF2B5EF4-FFF2-40B4-BE49-F238E27FC236}">
                <a16:creationId xmlns:a16="http://schemas.microsoft.com/office/drawing/2014/main" id="{02A78C11-2DDF-339E-8117-E39807A9BB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315261-23CF-A646-A3F0-B51EFB1EE32A}" type="datetimeFigureOut">
              <a:rPr lang="en-JP" smtClean="0"/>
              <a:t>2026/07/15</a:t>
            </a:fld>
            <a:endParaRPr lang="en-JP"/>
          </a:p>
        </p:txBody>
      </p:sp>
      <p:sp>
        <p:nvSpPr>
          <p:cNvPr id="5" name="Footer Placeholder 4">
            <a:extLst>
              <a:ext uri="{FF2B5EF4-FFF2-40B4-BE49-F238E27FC236}">
                <a16:creationId xmlns:a16="http://schemas.microsoft.com/office/drawing/2014/main" id="{518653CD-823D-6E6F-D7AA-A38FF0C2E2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JP"/>
          </a:p>
        </p:txBody>
      </p:sp>
      <p:sp>
        <p:nvSpPr>
          <p:cNvPr id="6" name="Slide Number Placeholder 5">
            <a:extLst>
              <a:ext uri="{FF2B5EF4-FFF2-40B4-BE49-F238E27FC236}">
                <a16:creationId xmlns:a16="http://schemas.microsoft.com/office/drawing/2014/main" id="{29474156-ECBF-C589-BD26-509B4A405B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28D69D-E51C-CD4A-B17B-9473BE4ADDC4}" type="slidenum">
              <a:rPr lang="en-JP" smtClean="0"/>
              <a:t>‹#›</a:t>
            </a:fld>
            <a:endParaRPr lang="en-JP"/>
          </a:p>
        </p:txBody>
      </p:sp>
    </p:spTree>
    <p:extLst>
      <p:ext uri="{BB962C8B-B14F-4D97-AF65-F5344CB8AC3E}">
        <p14:creationId xmlns:p14="http://schemas.microsoft.com/office/powerpoint/2010/main" val="2584196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7.png"/><Relationship Id="rId3" Type="http://schemas.openxmlformats.org/officeDocument/2006/relationships/image" Target="../media/image1.jpeg"/><Relationship Id="rId7" Type="http://schemas.microsoft.com/office/2007/relationships/hdphoto" Target="../media/hdphoto2.wdp"/><Relationship Id="rId12" Type="http://schemas.microsoft.com/office/2007/relationships/hdphoto" Target="../media/hdphoto4.wdp"/><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6.png"/><Relationship Id="rId5" Type="http://schemas.microsoft.com/office/2007/relationships/hdphoto" Target="../media/hdphoto1.wdp"/><Relationship Id="rId10" Type="http://schemas.openxmlformats.org/officeDocument/2006/relationships/image" Target="../media/image5.png"/><Relationship Id="rId4" Type="http://schemas.openxmlformats.org/officeDocument/2006/relationships/image" Target="../media/image2.png"/><Relationship Id="rId9" Type="http://schemas.microsoft.com/office/2007/relationships/hdphoto" Target="../media/hdphoto3.wdp"/></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NUL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ECE8E-BBAE-FDA9-CFD6-CD08A7789718}"/>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D35A9BD-70C9-05D0-CB4B-5CD8F0E57ABC}"/>
              </a:ext>
            </a:extLst>
          </p:cNvPr>
          <p:cNvCxnSpPr>
            <a:cxnSpLocks/>
          </p:cNvCxnSpPr>
          <p:nvPr/>
        </p:nvCxnSpPr>
        <p:spPr>
          <a:xfrm flipH="1">
            <a:off x="6890494" y="-164891"/>
            <a:ext cx="18517" cy="7187785"/>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75828B65-23A0-7A1E-140B-EB0F9D24397D}"/>
              </a:ext>
            </a:extLst>
          </p:cNvPr>
          <p:cNvCxnSpPr>
            <a:cxnSpLocks/>
          </p:cNvCxnSpPr>
          <p:nvPr/>
        </p:nvCxnSpPr>
        <p:spPr>
          <a:xfrm flipH="1">
            <a:off x="-108857" y="3135836"/>
            <a:ext cx="12409714" cy="0"/>
          </a:xfrm>
          <a:prstGeom prst="line">
            <a:avLst/>
          </a:prstGeom>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B1817666-468D-42AD-FE32-930A1F359C5A}"/>
              </a:ext>
            </a:extLst>
          </p:cNvPr>
          <p:cNvSpPr txBox="1"/>
          <p:nvPr/>
        </p:nvSpPr>
        <p:spPr>
          <a:xfrm>
            <a:off x="139391" y="3707993"/>
            <a:ext cx="1880958" cy="338554"/>
          </a:xfrm>
          <a:prstGeom prst="rect">
            <a:avLst/>
          </a:prstGeom>
          <a:noFill/>
        </p:spPr>
        <p:txBody>
          <a:bodyPr wrap="square" rtlCol="0">
            <a:spAutoFit/>
          </a:bodyPr>
          <a:lstStyle/>
          <a:p>
            <a:pPr algn="ctr"/>
            <a:r>
              <a:rPr lang="en-JP" sz="1600" dirty="0"/>
              <a:t>A-minor interaction</a:t>
            </a:r>
          </a:p>
        </p:txBody>
      </p:sp>
      <p:sp>
        <p:nvSpPr>
          <p:cNvPr id="29" name="TextBox 28">
            <a:extLst>
              <a:ext uri="{FF2B5EF4-FFF2-40B4-BE49-F238E27FC236}">
                <a16:creationId xmlns:a16="http://schemas.microsoft.com/office/drawing/2014/main" id="{E6622A1E-8287-BC78-D63C-2F078455CD96}"/>
              </a:ext>
            </a:extLst>
          </p:cNvPr>
          <p:cNvSpPr txBox="1"/>
          <p:nvPr/>
        </p:nvSpPr>
        <p:spPr>
          <a:xfrm>
            <a:off x="2595848" y="3722165"/>
            <a:ext cx="1526140" cy="338554"/>
          </a:xfrm>
          <a:prstGeom prst="rect">
            <a:avLst/>
          </a:prstGeom>
          <a:noFill/>
        </p:spPr>
        <p:txBody>
          <a:bodyPr wrap="square" rtlCol="0">
            <a:spAutoFit/>
          </a:bodyPr>
          <a:lstStyle/>
          <a:p>
            <a:pPr algn="ctr"/>
            <a:r>
              <a:rPr lang="en-JP" sz="1600" dirty="0"/>
              <a:t>Base triple pair</a:t>
            </a:r>
          </a:p>
        </p:txBody>
      </p:sp>
      <p:sp>
        <p:nvSpPr>
          <p:cNvPr id="30" name="TextBox 29">
            <a:extLst>
              <a:ext uri="{FF2B5EF4-FFF2-40B4-BE49-F238E27FC236}">
                <a16:creationId xmlns:a16="http://schemas.microsoft.com/office/drawing/2014/main" id="{E1484673-515B-556D-7CC7-B91120471632}"/>
              </a:ext>
            </a:extLst>
          </p:cNvPr>
          <p:cNvSpPr txBox="1"/>
          <p:nvPr/>
        </p:nvSpPr>
        <p:spPr>
          <a:xfrm>
            <a:off x="4681045" y="3707242"/>
            <a:ext cx="2209449" cy="584775"/>
          </a:xfrm>
          <a:prstGeom prst="rect">
            <a:avLst/>
          </a:prstGeom>
          <a:noFill/>
        </p:spPr>
        <p:txBody>
          <a:bodyPr wrap="square" rtlCol="0">
            <a:spAutoFit/>
          </a:bodyPr>
          <a:lstStyle/>
          <a:p>
            <a:pPr algn="ctr"/>
            <a:r>
              <a:rPr lang="en-JP" sz="1600" dirty="0"/>
              <a:t>Non-canonical base pair</a:t>
            </a:r>
          </a:p>
        </p:txBody>
      </p:sp>
      <p:pic>
        <p:nvPicPr>
          <p:cNvPr id="2050" name="Picture 2" descr="Figure 1">
            <a:extLst>
              <a:ext uri="{FF2B5EF4-FFF2-40B4-BE49-F238E27FC236}">
                <a16:creationId xmlns:a16="http://schemas.microsoft.com/office/drawing/2014/main" id="{4F8C5050-3CEF-00C1-84F5-9CEDD3379A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0662" y="298923"/>
            <a:ext cx="2800746" cy="2637145"/>
          </a:xfrm>
          <a:prstGeom prst="rect">
            <a:avLst/>
          </a:prstGeom>
          <a:noFill/>
          <a:extLst>
            <a:ext uri="{909E8E84-426E-40DD-AFC4-6F175D3DCCD1}">
              <a14:hiddenFill xmlns:a14="http://schemas.microsoft.com/office/drawing/2010/main">
                <a:solidFill>
                  <a:srgbClr val="FFFFFF"/>
                </a:solidFill>
              </a14:hiddenFill>
            </a:ext>
          </a:extLst>
        </p:spPr>
      </p:pic>
      <p:sp>
        <p:nvSpPr>
          <p:cNvPr id="37" name="Rectangle 36">
            <a:extLst>
              <a:ext uri="{FF2B5EF4-FFF2-40B4-BE49-F238E27FC236}">
                <a16:creationId xmlns:a16="http://schemas.microsoft.com/office/drawing/2014/main" id="{E84C46FF-0A0F-1A17-5554-FC2D202ADD92}"/>
              </a:ext>
            </a:extLst>
          </p:cNvPr>
          <p:cNvSpPr/>
          <p:nvPr/>
        </p:nvSpPr>
        <p:spPr>
          <a:xfrm>
            <a:off x="8978241" y="1254870"/>
            <a:ext cx="1781049" cy="16909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p:pic>
        <p:nvPicPr>
          <p:cNvPr id="36" name="Picture 2" descr="Figure 1">
            <a:extLst>
              <a:ext uri="{FF2B5EF4-FFF2-40B4-BE49-F238E27FC236}">
                <a16:creationId xmlns:a16="http://schemas.microsoft.com/office/drawing/2014/main" id="{63FE01D6-A4E2-59C0-F187-5B432575A810}"/>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27965" b="98584" l="49500" r="99500">
                        <a14:foregroundMark x1="75333" y1="46903" x2="55000" y2="60885"/>
                        <a14:foregroundMark x1="55000" y1="60885" x2="49667" y2="72566"/>
                        <a14:foregroundMark x1="49667" y1="72566" x2="65500" y2="64602"/>
                        <a14:foregroundMark x1="65500" y1="64602" x2="74667" y2="53982"/>
                        <a14:foregroundMark x1="74667" y1="53982" x2="58667" y2="79469"/>
                        <a14:foregroundMark x1="58667" y1="79469" x2="78333" y2="56283"/>
                        <a14:foregroundMark x1="78333" y1="56283" x2="65167" y2="77876"/>
                        <a14:foregroundMark x1="65167" y1="77876" x2="61667" y2="89912"/>
                        <a14:foregroundMark x1="61667" y1="89912" x2="81667" y2="70619"/>
                        <a14:foregroundMark x1="81667" y1="70619" x2="75500" y2="91327"/>
                        <a14:foregroundMark x1="75500" y1="91327" x2="93167" y2="78584"/>
                        <a14:foregroundMark x1="93167" y1="78584" x2="93833" y2="78584"/>
                        <a14:foregroundMark x1="73500" y1="49204" x2="52333" y2="83894"/>
                        <a14:foregroundMark x1="52333" y1="83894" x2="68000" y2="78230"/>
                        <a14:foregroundMark x1="68000" y1="78230" x2="59000" y2="93805"/>
                        <a14:foregroundMark x1="59000" y1="93805" x2="80833" y2="64071"/>
                        <a14:foregroundMark x1="80833" y1="64071" x2="61333" y2="99469"/>
                        <a14:foregroundMark x1="61333" y1="99469" x2="82167" y2="76991"/>
                        <a14:foregroundMark x1="82167" y1="76991" x2="68833" y2="97345"/>
                        <a14:foregroundMark x1="68833" y1="97345" x2="80167" y2="84602"/>
                        <a14:foregroundMark x1="80167" y1="84602" x2="74500" y2="98053"/>
                        <a14:foregroundMark x1="74500" y1="98053" x2="84167" y2="87080"/>
                        <a14:foregroundMark x1="84167" y1="87080" x2="94833" y2="82655"/>
                        <a14:foregroundMark x1="94833" y1="82655" x2="85167" y2="90088"/>
                        <a14:foregroundMark x1="85167" y1="90088" x2="91167" y2="79115"/>
                        <a14:foregroundMark x1="91167" y1="79115" x2="81667" y2="89735"/>
                        <a14:foregroundMark x1="81667" y1="89735" x2="90333" y2="74690"/>
                        <a14:foregroundMark x1="90333" y1="74690" x2="69500" y2="98584"/>
                        <a14:foregroundMark x1="69500" y1="98584" x2="81833" y2="63717"/>
                        <a14:foregroundMark x1="81833" y1="63717" x2="64333" y2="82478"/>
                        <a14:foregroundMark x1="64333" y1="82478" x2="64333" y2="82478"/>
                        <a14:foregroundMark x1="74500" y1="41239" x2="74167" y2="90088"/>
                        <a14:foregroundMark x1="83833" y1="46726" x2="84667" y2="98053"/>
                        <a14:foregroundMark x1="88500" y1="43363" x2="88500" y2="99469"/>
                        <a14:foregroundMark x1="91333" y1="46726" x2="91333" y2="97345"/>
                        <a14:foregroundMark x1="93500" y1="44956" x2="95833" y2="96460"/>
                        <a14:foregroundMark x1="95833" y1="49558" x2="95833" y2="98053"/>
                        <a14:foregroundMark x1="95833" y1="98053" x2="95833" y2="98053"/>
                        <a14:foregroundMark x1="94000" y1="48673" x2="95833" y2="98407"/>
                        <a14:foregroundMark x1="90833" y1="58053" x2="90833" y2="91327"/>
                        <a14:foregroundMark x1="93833" y1="73628" x2="83000" y2="69735"/>
                        <a14:foregroundMark x1="83000" y1="69735" x2="94333" y2="71327"/>
                        <a14:foregroundMark x1="94333" y1="71327" x2="88667" y2="72566"/>
                        <a14:foregroundMark x1="60833" y1="58584" x2="50167" y2="61947"/>
                        <a14:foregroundMark x1="50167" y1="61947" x2="67167" y2="64071"/>
                        <a14:foregroundMark x1="67167" y1="64071" x2="53500" y2="64248"/>
                        <a14:foregroundMark x1="53500" y1="64248" x2="64000" y2="62124"/>
                        <a14:foregroundMark x1="64000" y1="62124" x2="51833" y2="67257"/>
                        <a14:foregroundMark x1="51833" y1="67257" x2="62167" y2="64425"/>
                        <a14:foregroundMark x1="62167" y1="64425" x2="54333" y2="75398"/>
                        <a14:foregroundMark x1="54333" y1="75398" x2="60333" y2="63363"/>
                        <a14:foregroundMark x1="60333" y1="63363" x2="49667" y2="93628"/>
                        <a14:foregroundMark x1="49667" y1="93628" x2="66167" y2="72389"/>
                        <a14:foregroundMark x1="66167" y1="72389" x2="56333" y2="90088"/>
                        <a14:foregroundMark x1="56333" y1="90088" x2="66667" y2="76460"/>
                        <a14:foregroundMark x1="66667" y1="76460" x2="60333" y2="88496"/>
                        <a14:foregroundMark x1="60333" y1="88496" x2="71000" y2="75398"/>
                        <a14:foregroundMark x1="71000" y1="75398" x2="63500" y2="85664"/>
                        <a14:foregroundMark x1="63500" y1="85664" x2="51000" y2="91150"/>
                        <a14:foregroundMark x1="51000" y1="91150" x2="56667" y2="78230"/>
                        <a14:foregroundMark x1="56667" y1="78230" x2="54833" y2="91504"/>
                        <a14:foregroundMark x1="54833" y1="91504" x2="68167" y2="81062"/>
                        <a14:foregroundMark x1="68167" y1="81062" x2="64833" y2="94513"/>
                        <a14:foregroundMark x1="64833" y1="94513" x2="79833" y2="83186"/>
                        <a14:foregroundMark x1="79833" y1="83186" x2="73500" y2="94336"/>
                        <a14:foregroundMark x1="73500" y1="94336" x2="91167" y2="90973"/>
                        <a14:foregroundMark x1="91167" y1="90973" x2="72167" y2="86726"/>
                        <a14:foregroundMark x1="87000" y1="50088" x2="76500" y2="55752"/>
                        <a14:foregroundMark x1="76500" y1="55752" x2="99500" y2="27965"/>
                        <a14:foregroundMark x1="99500" y1="27965" x2="68833" y2="67611"/>
                        <a14:foregroundMark x1="68833" y1="67611" x2="88333" y2="42655"/>
                        <a14:foregroundMark x1="88333" y1="42655" x2="77333" y2="57699"/>
                        <a14:foregroundMark x1="77333" y1="57699" x2="88167" y2="47965"/>
                        <a14:foregroundMark x1="88167" y1="47965" x2="74500" y2="75044"/>
                        <a14:foregroundMark x1="74500" y1="75044" x2="86500" y2="56991"/>
                        <a14:foregroundMark x1="86500" y1="56991" x2="78500" y2="65133"/>
                        <a14:foregroundMark x1="78500" y1="65133" x2="91000" y2="47611"/>
                        <a14:foregroundMark x1="91000" y1="47611" x2="74500" y2="72920"/>
                        <a14:foregroundMark x1="84167" y1="46195" x2="74000" y2="42478"/>
                        <a14:foregroundMark x1="74000" y1="42478" x2="64500" y2="52743"/>
                        <a14:foregroundMark x1="64500" y1="52743" x2="80833" y2="40708"/>
                        <a14:foregroundMark x1="80833" y1="40708" x2="43000" y2="90973"/>
                        <a14:foregroundMark x1="43000" y1="90973" x2="61333" y2="63186"/>
                        <a14:foregroundMark x1="61333" y1="63186" x2="52167" y2="69912"/>
                        <a14:foregroundMark x1="52167" y1="69912" x2="58833" y2="59646"/>
                        <a14:foregroundMark x1="58833" y1="59646" x2="49500" y2="65310"/>
                        <a14:foregroundMark x1="49500" y1="65310" x2="59833" y2="55929"/>
                        <a14:foregroundMark x1="59833" y1="55929" x2="50167" y2="62301"/>
                        <a14:foregroundMark x1="50167" y1="62301" x2="70167" y2="54690"/>
                        <a14:foregroundMark x1="70167" y1="54690" x2="70167" y2="54690"/>
                        <a14:backgroundMark x1="52500" y1="40708" x2="47500" y2="45841"/>
                        <a14:backgroundMark x1="55167" y1="38230" x2="51167" y2="48850"/>
                        <a14:backgroundMark x1="51167" y1="48850" x2="47500" y2="50088"/>
                        <a14:backgroundMark x1="60667" y1="38938" x2="56000" y2="49204"/>
                        <a14:backgroundMark x1="56000" y1="49204" x2="47667" y2="51504"/>
                      </a14:backgroundRemoval>
                    </a14:imgEffect>
                  </a14:imgLayer>
                </a14:imgProps>
              </a:ext>
              <a:ext uri="{28A0092B-C50C-407E-A947-70E740481C1C}">
                <a14:useLocalDpi xmlns:a14="http://schemas.microsoft.com/office/drawing/2010/main" val="0"/>
              </a:ext>
            </a:extLst>
          </a:blip>
          <a:srcRect l="50036" t="39381" r="1208" b="1671"/>
          <a:stretch/>
        </p:blipFill>
        <p:spPr bwMode="auto">
          <a:xfrm>
            <a:off x="9663132" y="519237"/>
            <a:ext cx="2192315" cy="249578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D50AAFDD-B483-405D-1E5A-71979A8067E1}"/>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4825" b="70620" l="200" r="60800">
                        <a14:foregroundMark x1="3200" y1="14016" x2="38200" y2="25067"/>
                        <a14:foregroundMark x1="38200" y1="25067" x2="51800" y2="34771"/>
                        <a14:foregroundMark x1="51800" y1="34771" x2="54400" y2="55256"/>
                        <a14:foregroundMark x1="54400" y1="55256" x2="41800" y2="69272"/>
                        <a14:foregroundMark x1="41800" y1="69272" x2="11200" y2="69811"/>
                        <a14:foregroundMark x1="11200" y1="69811" x2="200" y2="38544"/>
                        <a14:foregroundMark x1="200" y1="38544" x2="400" y2="17251"/>
                        <a14:foregroundMark x1="400" y1="17251" x2="3600" y2="14825"/>
                        <a14:foregroundMark x1="5000" y1="23989" x2="33800" y2="60647"/>
                        <a14:foregroundMark x1="50600" y1="44474" x2="33600" y2="59030"/>
                        <a14:foregroundMark x1="33600" y1="59030" x2="19600" y2="62264"/>
                        <a14:foregroundMark x1="19600" y1="62264" x2="25000" y2="56604"/>
                        <a14:foregroundMark x1="16400" y1="57412" x2="16400" y2="57412"/>
                        <a14:foregroundMark x1="20000" y1="57412" x2="21800" y2="57412"/>
                        <a14:foregroundMark x1="53600" y1="38544" x2="54400" y2="57682"/>
                        <a14:foregroundMark x1="54400" y1="57682" x2="43800" y2="71698"/>
                        <a14:foregroundMark x1="43800" y1="71698" x2="15200" y2="73046"/>
                        <a14:foregroundMark x1="15200" y1="73046" x2="1800" y2="63612"/>
                        <a14:foregroundMark x1="1800" y1="63612" x2="200" y2="58491"/>
                        <a14:foregroundMark x1="45000" y1="71968" x2="56000" y2="59299"/>
                        <a14:foregroundMark x1="56000" y1="59299" x2="44000" y2="70889"/>
                        <a14:foregroundMark x1="44000" y1="70889" x2="40000" y2="46631"/>
                        <a14:foregroundMark x1="40000" y1="46631" x2="23600" y2="35040"/>
                        <a14:foregroundMark x1="23600" y1="35040" x2="29400" y2="52830"/>
                        <a14:foregroundMark x1="29400" y1="52830" x2="25200" y2="33423"/>
                        <a14:foregroundMark x1="25200" y1="33423" x2="30400" y2="58221"/>
                        <a14:foregroundMark x1="30400" y1="58221" x2="16800" y2="45013"/>
                        <a14:foregroundMark x1="16800" y1="45013" x2="27200" y2="60916"/>
                        <a14:foregroundMark x1="27200" y1="60916" x2="13200" y2="47170"/>
                        <a14:foregroundMark x1="13200" y1="47170" x2="13200" y2="47978"/>
                        <a14:foregroundMark x1="41200" y1="63881" x2="37200" y2="62264"/>
                        <a14:foregroundMark x1="39200" y1="61186" x2="35200" y2="61995"/>
                        <a14:foregroundMark x1="37200" y1="49596" x2="24000" y2="40701"/>
                        <a14:foregroundMark x1="24000" y1="40701" x2="21600" y2="35310"/>
                        <a14:foregroundMark x1="25200" y1="38275" x2="10600" y2="42857"/>
                        <a14:foregroundMark x1="10600" y1="42857" x2="28600" y2="38814"/>
                        <a14:foregroundMark x1="28600" y1="38814" x2="12800" y2="49865"/>
                        <a14:foregroundMark x1="12800" y1="49865" x2="40800" y2="37466"/>
                        <a14:foregroundMark x1="40800" y1="37466" x2="28000" y2="47439"/>
                        <a14:foregroundMark x1="28000" y1="47439" x2="44800" y2="41240"/>
                        <a14:foregroundMark x1="44800" y1="41240" x2="30000" y2="52830"/>
                        <a14:foregroundMark x1="30000" y1="52830" x2="47000" y2="46900"/>
                        <a14:foregroundMark x1="47000" y1="46900" x2="30000" y2="54447"/>
                        <a14:foregroundMark x1="30000" y1="54447" x2="46400" y2="47978"/>
                        <a14:foregroundMark x1="46400" y1="47978" x2="38000" y2="54178"/>
                        <a14:foregroundMark x1="8400" y1="69272" x2="14400" y2="64690"/>
                        <a14:foregroundMark x1="60800" y1="52561" x2="51400" y2="55795"/>
                      </a14:backgroundRemoval>
                    </a14:imgEffect>
                  </a14:imgLayer>
                </a14:imgProps>
              </a:ext>
              <a:ext uri="{28A0092B-C50C-407E-A947-70E740481C1C}">
                <a14:useLocalDpi xmlns:a14="http://schemas.microsoft.com/office/drawing/2010/main" val="0"/>
              </a:ext>
            </a:extLst>
          </a:blip>
          <a:srcRect t="10645" r="36710" b="23221"/>
          <a:stretch/>
        </p:blipFill>
        <p:spPr bwMode="auto">
          <a:xfrm>
            <a:off x="2278296" y="4343591"/>
            <a:ext cx="2161244" cy="167565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244ECC61-C2F2-C5EB-D31C-2377F10006C6}"/>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backgroundRemoval t="1012" b="48844" l="103" r="49128">
                        <a14:foregroundMark x1="205" y1="20087" x2="18256" y2="31647"/>
                        <a14:foregroundMark x1="6051" y1="7081" x2="18256" y2="5925"/>
                        <a14:foregroundMark x1="18256" y1="5925" x2="19897" y2="5058"/>
                        <a14:foregroundMark x1="10051" y1="1156" x2="22872" y2="12428"/>
                        <a14:foregroundMark x1="22872" y1="12428" x2="35692" y2="31358"/>
                        <a14:foregroundMark x1="33436" y1="11850" x2="14564" y2="17775"/>
                        <a14:foregroundMark x1="14564" y1="17775" x2="13333" y2="24711"/>
                        <a14:foregroundMark x1="13333" y1="24711" x2="20410" y2="35694"/>
                        <a14:foregroundMark x1="20410" y1="35694" x2="15692" y2="39884"/>
                        <a14:foregroundMark x1="15692" y1="39884" x2="17128" y2="47688"/>
                        <a14:foregroundMark x1="17128" y1="47688" x2="22872" y2="49711"/>
                        <a14:foregroundMark x1="22872" y1="49711" x2="34564" y2="48121"/>
                        <a14:foregroundMark x1="34564" y1="48121" x2="43179" y2="39306"/>
                        <a14:foregroundMark x1="43179" y1="39306" x2="41949" y2="28613"/>
                        <a14:foregroundMark x1="41949" y1="28613" x2="38872" y2="22543"/>
                        <a14:foregroundMark x1="38872" y1="22543" x2="18667" y2="5491"/>
                        <a14:foregroundMark x1="18667" y1="5491" x2="8103" y2="5925"/>
                        <a14:foregroundMark x1="8103" y1="5925" x2="13949" y2="5636"/>
                        <a14:foregroundMark x1="13949" y1="5636" x2="8308" y2="5925"/>
                        <a14:foregroundMark x1="8308" y1="5925" x2="13538" y2="3902"/>
                        <a14:foregroundMark x1="13538" y1="3902" x2="6667" y2="5925"/>
                        <a14:foregroundMark x1="6667" y1="5925" x2="14667" y2="5058"/>
                        <a14:foregroundMark x1="14667" y1="5058" x2="9641" y2="6647"/>
                        <a14:foregroundMark x1="9641" y1="6647" x2="5026" y2="10549"/>
                        <a14:foregroundMark x1="5026" y1="10549" x2="0" y2="25000"/>
                        <a14:foregroundMark x1="0" y1="25000" x2="5949" y2="46098"/>
                        <a14:foregroundMark x1="5949" y1="46098" x2="10564" y2="49422"/>
                        <a14:foregroundMark x1="10564" y1="49422" x2="21026" y2="46965"/>
                        <a14:foregroundMark x1="21026" y1="46965" x2="25949" y2="48844"/>
                        <a14:foregroundMark x1="25949" y1="48844" x2="26462" y2="48266"/>
                        <a14:foregroundMark x1="22256" y1="47688" x2="36615" y2="49277"/>
                        <a14:foregroundMark x1="36615" y1="49277" x2="20410" y2="46821"/>
                        <a14:foregroundMark x1="20410" y1="46821" x2="41333" y2="44509"/>
                        <a14:foregroundMark x1="41333" y1="44509" x2="22154" y2="44509"/>
                        <a14:foregroundMark x1="22154" y1="44509" x2="22256" y2="33671"/>
                        <a14:foregroundMark x1="22256" y1="33671" x2="26256" y2="25000"/>
                        <a14:foregroundMark x1="26256" y1="25000" x2="27590" y2="17341"/>
                        <a14:foregroundMark x1="27590" y1="17341" x2="19692" y2="16185"/>
                        <a14:foregroundMark x1="19692" y1="16185" x2="28718" y2="14451"/>
                        <a14:foregroundMark x1="28718" y1="14451" x2="21538" y2="17919"/>
                        <a14:foregroundMark x1="21538" y1="17919" x2="31385" y2="21676"/>
                        <a14:foregroundMark x1="31385" y1="21676" x2="18462" y2="23699"/>
                        <a14:foregroundMark x1="21436" y1="17486" x2="27692" y2="17775"/>
                        <a14:foregroundMark x1="27692" y1="17775" x2="30667" y2="17197"/>
                        <a14:foregroundMark x1="38872" y1="28757" x2="41231" y2="35549"/>
                        <a14:foregroundMark x1="41231" y1="35549" x2="46359" y2="37139"/>
                        <a14:foregroundMark x1="46359" y1="37139" x2="45846" y2="42919"/>
                        <a14:foregroundMark x1="44513" y1="41185" x2="42872" y2="33671"/>
                        <a14:foregroundMark x1="42872" y1="33671" x2="39077" y2="29624"/>
                        <a14:foregroundMark x1="38256" y1="26734" x2="44923" y2="29480"/>
                        <a14:foregroundMark x1="44923" y1="29480" x2="48615" y2="36561"/>
                        <a14:foregroundMark x1="48615" y1="36561" x2="49128" y2="39162"/>
                        <a14:foregroundMark x1="615" y1="43208" x2="13436" y2="43497"/>
                      </a14:backgroundRemoval>
                    </a14:imgEffect>
                  </a14:imgLayer>
                </a14:imgProps>
              </a:ext>
              <a:ext uri="{28A0092B-C50C-407E-A947-70E740481C1C}">
                <a14:useLocalDpi xmlns:a14="http://schemas.microsoft.com/office/drawing/2010/main" val="0"/>
              </a:ext>
            </a:extLst>
          </a:blip>
          <a:srcRect r="54280" b="48889"/>
          <a:stretch/>
        </p:blipFill>
        <p:spPr bwMode="auto">
          <a:xfrm>
            <a:off x="21239" y="4292017"/>
            <a:ext cx="2242032" cy="1778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2C2B41C-DB35-33C1-5F65-0B6026DDDDC9}"/>
              </a:ext>
            </a:extLst>
          </p:cNvPr>
          <p:cNvPicPr>
            <a:picLocks noChangeAspect="1"/>
          </p:cNvPicPr>
          <p:nvPr/>
        </p:nvPicPr>
        <p:blipFill>
          <a:blip r:embed="rId10"/>
          <a:stretch>
            <a:fillRect/>
          </a:stretch>
        </p:blipFill>
        <p:spPr>
          <a:xfrm>
            <a:off x="47186" y="431692"/>
            <a:ext cx="6654924" cy="2197815"/>
          </a:xfrm>
          <a:prstGeom prst="rect">
            <a:avLst/>
          </a:prstGeom>
        </p:spPr>
      </p:pic>
      <p:pic>
        <p:nvPicPr>
          <p:cNvPr id="6" name="Picture 6">
            <a:extLst>
              <a:ext uri="{FF2B5EF4-FFF2-40B4-BE49-F238E27FC236}">
                <a16:creationId xmlns:a16="http://schemas.microsoft.com/office/drawing/2014/main" id="{76410E17-DA86-2E79-9780-223FF812AADC}"/>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ackgroundRemoval t="1946" b="37095" l="400" r="41500">
                        <a14:foregroundMark x1="26800" y1="1946" x2="19300" y2="2075"/>
                        <a14:foregroundMark x1="19300" y1="2075" x2="8100" y2="6096"/>
                        <a14:foregroundMark x1="8100" y1="6096" x2="5400" y2="12192"/>
                        <a14:foregroundMark x1="5400" y1="12192" x2="11400" y2="2594"/>
                        <a14:foregroundMark x1="11400" y1="2594" x2="900" y2="29053"/>
                        <a14:foregroundMark x1="900" y1="29053" x2="15100" y2="4021"/>
                        <a14:foregroundMark x1="15100" y1="4021" x2="3200" y2="26719"/>
                        <a14:foregroundMark x1="3200" y1="26719" x2="18400" y2="7263"/>
                        <a14:foregroundMark x1="18400" y1="7263" x2="8500" y2="39170"/>
                        <a14:foregroundMark x1="8500" y1="39170" x2="23800" y2="12840"/>
                        <a14:foregroundMark x1="23800" y1="12840" x2="16700" y2="32555"/>
                        <a14:foregroundMark x1="16700" y1="32555" x2="25700" y2="15305"/>
                        <a14:foregroundMark x1="25700" y1="15305" x2="23300" y2="22568"/>
                        <a14:foregroundMark x1="23300" y1="22568" x2="34800" y2="130"/>
                        <a14:foregroundMark x1="34800" y1="130" x2="24700" y2="27108"/>
                        <a14:foregroundMark x1="24700" y1="27108" x2="35200" y2="8949"/>
                        <a14:foregroundMark x1="35200" y1="8949" x2="28600" y2="32166"/>
                        <a14:foregroundMark x1="28600" y1="32166" x2="34100" y2="19585"/>
                        <a14:foregroundMark x1="34100" y1="19585" x2="29400" y2="40078"/>
                        <a14:foregroundMark x1="29400" y1="40078" x2="41300" y2="14008"/>
                        <a14:foregroundMark x1="41300" y1="14008" x2="36600" y2="26329"/>
                        <a14:foregroundMark x1="36600" y1="26329" x2="40100" y2="11284"/>
                        <a14:foregroundMark x1="40100" y1="11284" x2="35500" y2="26978"/>
                        <a14:foregroundMark x1="35500" y1="26978" x2="38500" y2="16991"/>
                        <a14:foregroundMark x1="38500" y1="16991" x2="35100" y2="26200"/>
                        <a14:foregroundMark x1="35100" y1="26200" x2="37800" y2="15045"/>
                        <a14:foregroundMark x1="37800" y1="15045" x2="35000" y2="22309"/>
                        <a14:foregroundMark x1="35000" y1="22309" x2="39600" y2="8690"/>
                        <a14:foregroundMark x1="39600" y1="8690" x2="34200" y2="24125"/>
                        <a14:foregroundMark x1="34200" y1="24125" x2="36500" y2="16991"/>
                        <a14:foregroundMark x1="36500" y1="16991" x2="33400" y2="26719"/>
                        <a14:foregroundMark x1="33400" y1="26719" x2="40000" y2="8431"/>
                        <a14:foregroundMark x1="40000" y1="8431" x2="36900" y2="26459"/>
                        <a14:foregroundMark x1="36900" y1="26459" x2="39500" y2="19715"/>
                        <a14:foregroundMark x1="39500" y1="19715" x2="33800" y2="37354"/>
                        <a14:foregroundMark x1="22100" y1="778" x2="23500" y2="20882"/>
                        <a14:foregroundMark x1="23500" y1="20882" x2="25200" y2="1946"/>
                        <a14:foregroundMark x1="25200" y1="1946" x2="18700" y2="24254"/>
                        <a14:foregroundMark x1="18700" y1="24254" x2="22600" y2="6226"/>
                        <a14:foregroundMark x1="22600" y1="6226" x2="24400" y2="13230"/>
                        <a14:foregroundMark x1="24400" y1="13230" x2="23800" y2="34630"/>
                        <a14:foregroundMark x1="10500" y1="6744" x2="5200" y2="11803"/>
                        <a14:foregroundMark x1="5200" y1="11803" x2="2900" y2="18418"/>
                        <a14:foregroundMark x1="2900" y1="18418" x2="3200" y2="9728"/>
                        <a14:foregroundMark x1="3200" y1="9728" x2="100" y2="41764"/>
                        <a14:foregroundMark x1="100" y1="41764" x2="3500" y2="17380"/>
                        <a14:foregroundMark x1="3500" y1="17380" x2="700" y2="31128"/>
                        <a14:foregroundMark x1="700" y1="31128" x2="4600" y2="21920"/>
                        <a14:foregroundMark x1="4600" y1="21920" x2="4600" y2="31128"/>
                        <a14:foregroundMark x1="4600" y1="31128" x2="10900" y2="10636"/>
                        <a14:foregroundMark x1="10900" y1="10636" x2="9700" y2="34371"/>
                        <a14:foregroundMark x1="9700" y1="34371" x2="18600" y2="16213"/>
                        <a14:foregroundMark x1="18600" y1="16213" x2="17500" y2="26978"/>
                        <a14:foregroundMark x1="17500" y1="26978" x2="24300" y2="11154"/>
                        <a14:foregroundMark x1="24300" y1="11154" x2="21900" y2="26200"/>
                        <a14:foregroundMark x1="21900" y1="26200" x2="28100" y2="10895"/>
                        <a14:foregroundMark x1="28100" y1="10895" x2="23600" y2="28145"/>
                        <a14:foregroundMark x1="23600" y1="28145" x2="32800" y2="7523"/>
                        <a14:foregroundMark x1="32800" y1="7523" x2="31300" y2="21530"/>
                        <a14:foregroundMark x1="31300" y1="21530" x2="34400" y2="15175"/>
                        <a14:foregroundMark x1="34400" y1="15175" x2="32500" y2="26719"/>
                        <a14:foregroundMark x1="32500" y1="26719" x2="39600" y2="4540"/>
                        <a14:foregroundMark x1="39600" y1="4540" x2="39500" y2="11543"/>
                        <a14:foregroundMark x1="39500" y1="11543" x2="36900" y2="21660"/>
                        <a14:foregroundMark x1="36900" y1="21660" x2="39300" y2="9468"/>
                        <a14:foregroundMark x1="39300" y1="9468" x2="37000" y2="30869"/>
                        <a14:foregroundMark x1="37000" y1="30869" x2="41500" y2="15694"/>
                        <a14:foregroundMark x1="41500" y1="15694" x2="37700" y2="25681"/>
                        <a14:foregroundMark x1="37700" y1="25681" x2="38800" y2="18158"/>
                        <a14:foregroundMark x1="38800" y1="18158" x2="33700" y2="31907"/>
                        <a14:foregroundMark x1="33700" y1="31907" x2="38300" y2="10246"/>
                        <a14:foregroundMark x1="38300" y1="10246" x2="31300" y2="29313"/>
                        <a14:foregroundMark x1="31300" y1="29313" x2="32300" y2="21920"/>
                        <a14:foregroundMark x1="32300" y1="21920" x2="31100" y2="24514"/>
                        <a14:foregroundMark x1="2200" y1="18158" x2="2000" y2="30869"/>
                        <a14:foregroundMark x1="2000" y1="30869" x2="2100" y2="22827"/>
                        <a14:foregroundMark x1="2100" y1="22827" x2="2300" y2="30739"/>
                        <a14:foregroundMark x1="2300" y1="30739" x2="4300" y2="20882"/>
                        <a14:foregroundMark x1="4300" y1="20882" x2="4200" y2="29831"/>
                        <a14:foregroundMark x1="4200" y1="29831" x2="5000" y2="21271"/>
                        <a14:foregroundMark x1="5000" y1="21271" x2="3300" y2="32555"/>
                        <a14:foregroundMark x1="3300" y1="32555" x2="3900" y2="23735"/>
                        <a14:foregroundMark x1="3900" y1="23735" x2="4000" y2="34760"/>
                        <a14:foregroundMark x1="4000" y1="34760" x2="13500" y2="20493"/>
                        <a14:foregroundMark x1="13500" y1="20493" x2="12300" y2="31907"/>
                        <a14:foregroundMark x1="12300" y1="31907" x2="16200" y2="25811"/>
                        <a14:foregroundMark x1="16200" y1="25811" x2="22000" y2="23476"/>
                        <a14:foregroundMark x1="22000" y1="23476" x2="22200" y2="30869"/>
                        <a14:foregroundMark x1="22200" y1="30869" x2="25300" y2="24125"/>
                        <a14:foregroundMark x1="25300" y1="24125" x2="23500" y2="28794"/>
                        <a14:foregroundMark x1="21100" y1="32425" x2="6600" y2="35409"/>
                        <a14:foregroundMark x1="6600" y1="35409" x2="1600" y2="29313"/>
                        <a14:foregroundMark x1="1600" y1="29313" x2="1700" y2="21401"/>
                        <a14:foregroundMark x1="1700" y1="21401" x2="1900" y2="29702"/>
                        <a14:foregroundMark x1="1900" y1="29702" x2="2600" y2="21141"/>
                        <a14:foregroundMark x1="2600" y1="21141" x2="2200" y2="31647"/>
                        <a14:foregroundMark x1="2200" y1="31647" x2="1400" y2="20363"/>
                        <a14:foregroundMark x1="1400" y1="20363" x2="1600" y2="27886"/>
                        <a14:foregroundMark x1="1600" y1="27886" x2="1400" y2="20623"/>
                        <a14:foregroundMark x1="1400" y1="20623" x2="400" y2="28275"/>
                        <a14:foregroundMark x1="400" y1="28275" x2="400" y2="28275"/>
                      </a14:backgroundRemoval>
                    </a14:imgEffect>
                  </a14:imgLayer>
                </a14:imgProps>
              </a:ext>
              <a:ext uri="{28A0092B-C50C-407E-A947-70E740481C1C}">
                <a14:useLocalDpi xmlns:a14="http://schemas.microsoft.com/office/drawing/2010/main" val="0"/>
              </a:ext>
            </a:extLst>
          </a:blip>
          <a:srcRect r="56575" b="61902"/>
          <a:stretch/>
        </p:blipFill>
        <p:spPr bwMode="auto">
          <a:xfrm>
            <a:off x="4457321" y="4446716"/>
            <a:ext cx="2324718" cy="157252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D4E62208-0827-3347-14BA-6DD0FA88981E}"/>
              </a:ext>
            </a:extLst>
          </p:cNvPr>
          <p:cNvPicPr>
            <a:picLocks noChangeAspect="1"/>
          </p:cNvPicPr>
          <p:nvPr/>
        </p:nvPicPr>
        <p:blipFill>
          <a:blip r:embed="rId13"/>
          <a:stretch>
            <a:fillRect/>
          </a:stretch>
        </p:blipFill>
        <p:spPr>
          <a:xfrm>
            <a:off x="7370532" y="3293749"/>
            <a:ext cx="4451239" cy="3487620"/>
          </a:xfrm>
          <a:prstGeom prst="rect">
            <a:avLst/>
          </a:prstGeom>
        </p:spPr>
      </p:pic>
      <p:sp>
        <p:nvSpPr>
          <p:cNvPr id="2" name="TextBox 1">
            <a:extLst>
              <a:ext uri="{FF2B5EF4-FFF2-40B4-BE49-F238E27FC236}">
                <a16:creationId xmlns:a16="http://schemas.microsoft.com/office/drawing/2014/main" id="{DADED136-8685-40C6-BF89-36D1F05117B4}"/>
              </a:ext>
            </a:extLst>
          </p:cNvPr>
          <p:cNvSpPr txBox="1"/>
          <p:nvPr/>
        </p:nvSpPr>
        <p:spPr>
          <a:xfrm>
            <a:off x="88502" y="45688"/>
            <a:ext cx="558616" cy="646331"/>
          </a:xfrm>
          <a:prstGeom prst="rect">
            <a:avLst/>
          </a:prstGeom>
          <a:noFill/>
        </p:spPr>
        <p:txBody>
          <a:bodyPr wrap="square" rtlCol="0">
            <a:spAutoFit/>
          </a:bodyPr>
          <a:lstStyle/>
          <a:p>
            <a:r>
              <a:rPr lang="en-JP" sz="3600" dirty="0"/>
              <a:t>A</a:t>
            </a:r>
          </a:p>
        </p:txBody>
      </p:sp>
      <p:sp>
        <p:nvSpPr>
          <p:cNvPr id="3" name="TextBox 2">
            <a:extLst>
              <a:ext uri="{FF2B5EF4-FFF2-40B4-BE49-F238E27FC236}">
                <a16:creationId xmlns:a16="http://schemas.microsoft.com/office/drawing/2014/main" id="{4F3835D0-9C85-791A-A04A-F731F4513D7A}"/>
              </a:ext>
            </a:extLst>
          </p:cNvPr>
          <p:cNvSpPr txBox="1"/>
          <p:nvPr/>
        </p:nvSpPr>
        <p:spPr>
          <a:xfrm>
            <a:off x="6977840" y="4151"/>
            <a:ext cx="558617" cy="646331"/>
          </a:xfrm>
          <a:prstGeom prst="rect">
            <a:avLst/>
          </a:prstGeom>
          <a:noFill/>
        </p:spPr>
        <p:txBody>
          <a:bodyPr wrap="square" rtlCol="0">
            <a:spAutoFit/>
          </a:bodyPr>
          <a:lstStyle/>
          <a:p>
            <a:r>
              <a:rPr lang="en-JP" sz="3600" dirty="0"/>
              <a:t>B</a:t>
            </a:r>
          </a:p>
        </p:txBody>
      </p:sp>
      <p:sp>
        <p:nvSpPr>
          <p:cNvPr id="9" name="TextBox 8">
            <a:extLst>
              <a:ext uri="{FF2B5EF4-FFF2-40B4-BE49-F238E27FC236}">
                <a16:creationId xmlns:a16="http://schemas.microsoft.com/office/drawing/2014/main" id="{D3DF2EBD-40A7-FBF4-6E1E-3EDEA4F92C68}"/>
              </a:ext>
            </a:extLst>
          </p:cNvPr>
          <p:cNvSpPr txBox="1"/>
          <p:nvPr/>
        </p:nvSpPr>
        <p:spPr>
          <a:xfrm>
            <a:off x="0" y="3139357"/>
            <a:ext cx="558616" cy="646331"/>
          </a:xfrm>
          <a:prstGeom prst="rect">
            <a:avLst/>
          </a:prstGeom>
          <a:noFill/>
        </p:spPr>
        <p:txBody>
          <a:bodyPr wrap="square" rtlCol="0">
            <a:spAutoFit/>
          </a:bodyPr>
          <a:lstStyle/>
          <a:p>
            <a:r>
              <a:rPr lang="en-JP" sz="3600" dirty="0"/>
              <a:t>C</a:t>
            </a:r>
          </a:p>
        </p:txBody>
      </p:sp>
      <p:sp>
        <p:nvSpPr>
          <p:cNvPr id="11" name="TextBox 10">
            <a:extLst>
              <a:ext uri="{FF2B5EF4-FFF2-40B4-BE49-F238E27FC236}">
                <a16:creationId xmlns:a16="http://schemas.microsoft.com/office/drawing/2014/main" id="{3249AE19-7C4B-F9DE-0A74-86EC1D55D472}"/>
              </a:ext>
            </a:extLst>
          </p:cNvPr>
          <p:cNvSpPr txBox="1"/>
          <p:nvPr/>
        </p:nvSpPr>
        <p:spPr>
          <a:xfrm>
            <a:off x="6909011" y="3139357"/>
            <a:ext cx="558617" cy="646331"/>
          </a:xfrm>
          <a:prstGeom prst="rect">
            <a:avLst/>
          </a:prstGeom>
          <a:noFill/>
        </p:spPr>
        <p:txBody>
          <a:bodyPr wrap="square" rtlCol="0">
            <a:spAutoFit/>
          </a:bodyPr>
          <a:lstStyle/>
          <a:p>
            <a:r>
              <a:rPr lang="en-JP" sz="3600" dirty="0"/>
              <a:t>D</a:t>
            </a:r>
          </a:p>
        </p:txBody>
      </p:sp>
    </p:spTree>
    <p:extLst>
      <p:ext uri="{BB962C8B-B14F-4D97-AF65-F5344CB8AC3E}">
        <p14:creationId xmlns:p14="http://schemas.microsoft.com/office/powerpoint/2010/main" val="436756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C06E-2EB4-4DCA-1FEA-5C7400D0FD85}"/>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8DE25BAA-98C3-B07D-4DF0-D84066FD2E5C}"/>
              </a:ext>
            </a:extLst>
          </p:cNvPr>
          <p:cNvSpPr txBox="1"/>
          <p:nvPr/>
        </p:nvSpPr>
        <p:spPr>
          <a:xfrm>
            <a:off x="2686680" y="4307756"/>
            <a:ext cx="4656929" cy="369460"/>
          </a:xfrm>
          <a:prstGeom prst="rect">
            <a:avLst/>
          </a:prstGeom>
          <a:noFill/>
          <a:ln w="19050">
            <a:noFill/>
          </a:ln>
        </p:spPr>
        <p:txBody>
          <a:bodyPr wrap="square" rtlCol="0">
            <a:spAutoFit/>
          </a:bodyPr>
          <a:lstStyle/>
          <a:p>
            <a:endParaRPr lang="en-JP" sz="1801" dirty="0"/>
          </a:p>
        </p:txBody>
      </p:sp>
      <p:sp>
        <p:nvSpPr>
          <p:cNvPr id="13" name="TextBox 12">
            <a:extLst>
              <a:ext uri="{FF2B5EF4-FFF2-40B4-BE49-F238E27FC236}">
                <a16:creationId xmlns:a16="http://schemas.microsoft.com/office/drawing/2014/main" id="{D5F439A5-2CE8-1708-3A52-234AB5A413BD}"/>
              </a:ext>
            </a:extLst>
          </p:cNvPr>
          <p:cNvSpPr txBox="1"/>
          <p:nvPr/>
        </p:nvSpPr>
        <p:spPr>
          <a:xfrm>
            <a:off x="3481409" y="125632"/>
            <a:ext cx="4656929" cy="369460"/>
          </a:xfrm>
          <a:prstGeom prst="rect">
            <a:avLst/>
          </a:prstGeom>
          <a:noFill/>
          <a:ln w="19050">
            <a:noFill/>
          </a:ln>
        </p:spPr>
        <p:txBody>
          <a:bodyPr wrap="square" rtlCol="0">
            <a:spAutoFit/>
          </a:bodyPr>
          <a:lstStyle/>
          <a:p>
            <a:endParaRPr lang="en-JP" sz="1801" dirty="0"/>
          </a:p>
        </p:txBody>
      </p:sp>
      <p:sp>
        <p:nvSpPr>
          <p:cNvPr id="3" name="Rectangle 2">
            <a:extLst>
              <a:ext uri="{FF2B5EF4-FFF2-40B4-BE49-F238E27FC236}">
                <a16:creationId xmlns:a16="http://schemas.microsoft.com/office/drawing/2014/main" id="{C4676B18-6984-F4C8-ECFF-6FFBA3E3DDA1}"/>
              </a:ext>
            </a:extLst>
          </p:cNvPr>
          <p:cNvSpPr/>
          <p:nvPr/>
        </p:nvSpPr>
        <p:spPr>
          <a:xfrm>
            <a:off x="3360420" y="358567"/>
            <a:ext cx="4777918" cy="1596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 name="Rectangle 4">
            <a:extLst>
              <a:ext uri="{FF2B5EF4-FFF2-40B4-BE49-F238E27FC236}">
                <a16:creationId xmlns:a16="http://schemas.microsoft.com/office/drawing/2014/main" id="{2CED8FB4-38C2-C8DD-5DA3-8E95D610D69C}"/>
              </a:ext>
            </a:extLst>
          </p:cNvPr>
          <p:cNvSpPr/>
          <p:nvPr/>
        </p:nvSpPr>
        <p:spPr>
          <a:xfrm>
            <a:off x="3360420" y="2042437"/>
            <a:ext cx="4777918" cy="190043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 name="Rectangle 5">
            <a:extLst>
              <a:ext uri="{FF2B5EF4-FFF2-40B4-BE49-F238E27FC236}">
                <a16:creationId xmlns:a16="http://schemas.microsoft.com/office/drawing/2014/main" id="{710812F9-7B3E-690F-D9A9-91076421E15A}"/>
              </a:ext>
            </a:extLst>
          </p:cNvPr>
          <p:cNvSpPr/>
          <p:nvPr/>
        </p:nvSpPr>
        <p:spPr>
          <a:xfrm>
            <a:off x="3360420" y="4029860"/>
            <a:ext cx="4777918" cy="16779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7" name="TextBox 6">
            <a:extLst>
              <a:ext uri="{FF2B5EF4-FFF2-40B4-BE49-F238E27FC236}">
                <a16:creationId xmlns:a16="http://schemas.microsoft.com/office/drawing/2014/main" id="{AC03A024-584B-533A-EC52-B7A6CD250D1E}"/>
              </a:ext>
            </a:extLst>
          </p:cNvPr>
          <p:cNvSpPr txBox="1"/>
          <p:nvPr/>
        </p:nvSpPr>
        <p:spPr>
          <a:xfrm>
            <a:off x="3360420" y="348714"/>
            <a:ext cx="558616" cy="523220"/>
          </a:xfrm>
          <a:prstGeom prst="rect">
            <a:avLst/>
          </a:prstGeom>
          <a:noFill/>
        </p:spPr>
        <p:txBody>
          <a:bodyPr wrap="square" rtlCol="0">
            <a:spAutoFit/>
          </a:bodyPr>
          <a:lstStyle/>
          <a:p>
            <a:r>
              <a:rPr lang="en-JP" sz="2800" dirty="0"/>
              <a:t>A</a:t>
            </a:r>
          </a:p>
        </p:txBody>
      </p:sp>
      <p:sp>
        <p:nvSpPr>
          <p:cNvPr id="8" name="TextBox 7">
            <a:extLst>
              <a:ext uri="{FF2B5EF4-FFF2-40B4-BE49-F238E27FC236}">
                <a16:creationId xmlns:a16="http://schemas.microsoft.com/office/drawing/2014/main" id="{5E1BBE1F-20CE-B99D-D03E-785D0528E4FA}"/>
              </a:ext>
            </a:extLst>
          </p:cNvPr>
          <p:cNvSpPr txBox="1"/>
          <p:nvPr/>
        </p:nvSpPr>
        <p:spPr>
          <a:xfrm>
            <a:off x="3360420" y="2015273"/>
            <a:ext cx="558617" cy="523220"/>
          </a:xfrm>
          <a:prstGeom prst="rect">
            <a:avLst/>
          </a:prstGeom>
          <a:noFill/>
        </p:spPr>
        <p:txBody>
          <a:bodyPr wrap="square" rtlCol="0">
            <a:spAutoFit/>
          </a:bodyPr>
          <a:lstStyle/>
          <a:p>
            <a:r>
              <a:rPr lang="en-JP" sz="2800" dirty="0"/>
              <a:t>B</a:t>
            </a:r>
          </a:p>
        </p:txBody>
      </p:sp>
      <p:sp>
        <p:nvSpPr>
          <p:cNvPr id="9" name="TextBox 8">
            <a:extLst>
              <a:ext uri="{FF2B5EF4-FFF2-40B4-BE49-F238E27FC236}">
                <a16:creationId xmlns:a16="http://schemas.microsoft.com/office/drawing/2014/main" id="{5F765BEA-1C7B-00DA-03A4-CDC48E6E834F}"/>
              </a:ext>
            </a:extLst>
          </p:cNvPr>
          <p:cNvSpPr txBox="1"/>
          <p:nvPr/>
        </p:nvSpPr>
        <p:spPr>
          <a:xfrm>
            <a:off x="3360420" y="4004609"/>
            <a:ext cx="558616" cy="523220"/>
          </a:xfrm>
          <a:prstGeom prst="rect">
            <a:avLst/>
          </a:prstGeom>
          <a:noFill/>
        </p:spPr>
        <p:txBody>
          <a:bodyPr wrap="square" rtlCol="0">
            <a:spAutoFit/>
          </a:bodyPr>
          <a:lstStyle/>
          <a:p>
            <a:r>
              <a:rPr lang="en-JP" sz="2800" dirty="0"/>
              <a:t>C</a:t>
            </a:r>
          </a:p>
        </p:txBody>
      </p:sp>
      <p:pic>
        <p:nvPicPr>
          <p:cNvPr id="2" name="Picture 1">
            <a:extLst>
              <a:ext uri="{FF2B5EF4-FFF2-40B4-BE49-F238E27FC236}">
                <a16:creationId xmlns:a16="http://schemas.microsoft.com/office/drawing/2014/main" id="{0ADBE169-EC29-ED2F-30FC-BF7154A285CD}"/>
              </a:ext>
            </a:extLst>
          </p:cNvPr>
          <p:cNvPicPr>
            <a:picLocks noChangeAspect="1"/>
          </p:cNvPicPr>
          <p:nvPr/>
        </p:nvPicPr>
        <p:blipFill>
          <a:blip r:embed="rId2"/>
          <a:srcRect l="7263" t="2099" r="1880" b="73987"/>
          <a:stretch/>
        </p:blipFill>
        <p:spPr>
          <a:xfrm>
            <a:off x="3716518" y="503471"/>
            <a:ext cx="4318642" cy="1413789"/>
          </a:xfrm>
          <a:prstGeom prst="rect">
            <a:avLst/>
          </a:prstGeom>
        </p:spPr>
      </p:pic>
      <p:pic>
        <p:nvPicPr>
          <p:cNvPr id="4" name="Picture 3">
            <a:extLst>
              <a:ext uri="{FF2B5EF4-FFF2-40B4-BE49-F238E27FC236}">
                <a16:creationId xmlns:a16="http://schemas.microsoft.com/office/drawing/2014/main" id="{DB4FE9FA-024E-7932-1400-DBD10C4443B7}"/>
              </a:ext>
            </a:extLst>
          </p:cNvPr>
          <p:cNvPicPr>
            <a:picLocks noChangeAspect="1"/>
          </p:cNvPicPr>
          <p:nvPr/>
        </p:nvPicPr>
        <p:blipFill>
          <a:blip r:embed="rId2"/>
          <a:srcRect l="18678" t="34840" r="12319" b="36936"/>
          <a:stretch/>
        </p:blipFill>
        <p:spPr>
          <a:xfrm>
            <a:off x="3983552" y="2057365"/>
            <a:ext cx="3652642" cy="1858195"/>
          </a:xfrm>
          <a:prstGeom prst="rect">
            <a:avLst/>
          </a:prstGeom>
        </p:spPr>
      </p:pic>
      <p:pic>
        <p:nvPicPr>
          <p:cNvPr id="16" name="Picture 15">
            <a:extLst>
              <a:ext uri="{FF2B5EF4-FFF2-40B4-BE49-F238E27FC236}">
                <a16:creationId xmlns:a16="http://schemas.microsoft.com/office/drawing/2014/main" id="{EA242EF3-1082-25C5-23E1-19CF79498A11}"/>
              </a:ext>
            </a:extLst>
          </p:cNvPr>
          <p:cNvPicPr>
            <a:picLocks noChangeAspect="1"/>
          </p:cNvPicPr>
          <p:nvPr/>
        </p:nvPicPr>
        <p:blipFill>
          <a:blip r:embed="rId2"/>
          <a:srcRect l="11356" t="69267" r="11134" b="8652"/>
          <a:stretch/>
        </p:blipFill>
        <p:spPr>
          <a:xfrm>
            <a:off x="3738926" y="4111657"/>
            <a:ext cx="4273826" cy="1514363"/>
          </a:xfrm>
          <a:prstGeom prst="rect">
            <a:avLst/>
          </a:prstGeom>
        </p:spPr>
      </p:pic>
      <p:sp>
        <p:nvSpPr>
          <p:cNvPr id="17" name="TextBox 16">
            <a:extLst>
              <a:ext uri="{FF2B5EF4-FFF2-40B4-BE49-F238E27FC236}">
                <a16:creationId xmlns:a16="http://schemas.microsoft.com/office/drawing/2014/main" id="{9B93DCDC-28AD-3C18-AE6E-D2CAF8EDFD03}"/>
              </a:ext>
            </a:extLst>
          </p:cNvPr>
          <p:cNvSpPr txBox="1"/>
          <p:nvPr/>
        </p:nvSpPr>
        <p:spPr>
          <a:xfrm>
            <a:off x="6290964" y="3431922"/>
            <a:ext cx="1338805" cy="415498"/>
          </a:xfrm>
          <a:prstGeom prst="rect">
            <a:avLst/>
          </a:prstGeom>
          <a:solidFill>
            <a:schemeClr val="bg1"/>
          </a:solidFill>
        </p:spPr>
        <p:txBody>
          <a:bodyPr wrap="square" rtlCol="0">
            <a:spAutoFit/>
          </a:bodyPr>
          <a:lstStyle/>
          <a:p>
            <a:pPr algn="ctr"/>
            <a:r>
              <a:rPr lang="en-GB" sz="1050" dirty="0"/>
              <a:t>Aromatic ligand</a:t>
            </a:r>
          </a:p>
          <a:p>
            <a:pPr algn="ctr"/>
            <a:r>
              <a:rPr lang="en-GB" sz="1050" dirty="0"/>
              <a:t>(n</a:t>
            </a:r>
            <a:r>
              <a:rPr lang="en-JP" sz="1050" dirty="0"/>
              <a:t>aphthalene)</a:t>
            </a:r>
          </a:p>
        </p:txBody>
      </p:sp>
    </p:spTree>
    <p:extLst>
      <p:ext uri="{BB962C8B-B14F-4D97-AF65-F5344CB8AC3E}">
        <p14:creationId xmlns:p14="http://schemas.microsoft.com/office/powerpoint/2010/main" val="544726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53" name="Straight Arrow Connector 1052">
            <a:extLst>
              <a:ext uri="{FF2B5EF4-FFF2-40B4-BE49-F238E27FC236}">
                <a16:creationId xmlns:a16="http://schemas.microsoft.com/office/drawing/2014/main" id="{FDB6971A-0FFE-61D7-E6DC-F2FF8949DA74}"/>
              </a:ext>
            </a:extLst>
          </p:cNvPr>
          <p:cNvCxnSpPr>
            <a:cxnSpLocks/>
          </p:cNvCxnSpPr>
          <p:nvPr/>
        </p:nvCxnSpPr>
        <p:spPr>
          <a:xfrm>
            <a:off x="8685524" y="2223555"/>
            <a:ext cx="0" cy="237095"/>
          </a:xfrm>
          <a:prstGeom prst="straightConnector1">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044" name="Straight Arrow Connector 1043">
            <a:extLst>
              <a:ext uri="{FF2B5EF4-FFF2-40B4-BE49-F238E27FC236}">
                <a16:creationId xmlns:a16="http://schemas.microsoft.com/office/drawing/2014/main" id="{83594936-13C5-FDDF-FA8C-27299481D7A8}"/>
              </a:ext>
            </a:extLst>
          </p:cNvPr>
          <p:cNvCxnSpPr>
            <a:cxnSpLocks/>
          </p:cNvCxnSpPr>
          <p:nvPr/>
        </p:nvCxnSpPr>
        <p:spPr>
          <a:xfrm>
            <a:off x="7537603" y="1293757"/>
            <a:ext cx="544614" cy="0"/>
          </a:xfrm>
          <a:prstGeom prst="straightConnector1">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FA8872C1-4B54-5ADA-4591-92E092DB2995}"/>
              </a:ext>
            </a:extLst>
          </p:cNvPr>
          <p:cNvCxnSpPr>
            <a:cxnSpLocks/>
          </p:cNvCxnSpPr>
          <p:nvPr/>
        </p:nvCxnSpPr>
        <p:spPr>
          <a:xfrm>
            <a:off x="2176582" y="1309293"/>
            <a:ext cx="598914" cy="0"/>
          </a:xfrm>
          <a:prstGeom prst="straightConnector1">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4" name="Rounded Rectangle 3">
            <a:extLst>
              <a:ext uri="{FF2B5EF4-FFF2-40B4-BE49-F238E27FC236}">
                <a16:creationId xmlns:a16="http://schemas.microsoft.com/office/drawing/2014/main" id="{BFE4512D-4645-200E-B6B7-388CE44BABCA}"/>
              </a:ext>
            </a:extLst>
          </p:cNvPr>
          <p:cNvSpPr/>
          <p:nvPr/>
        </p:nvSpPr>
        <p:spPr>
          <a:xfrm>
            <a:off x="337263" y="462243"/>
            <a:ext cx="1855870" cy="1642354"/>
          </a:xfrm>
          <a:prstGeom prst="roundRect">
            <a:avLst/>
          </a:prstGeom>
          <a:solidFill>
            <a:schemeClr val="bg1"/>
          </a:solidFill>
          <a:ln w="285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p:sp>
        <p:nvSpPr>
          <p:cNvPr id="5" name="TextBox 4">
            <a:extLst>
              <a:ext uri="{FF2B5EF4-FFF2-40B4-BE49-F238E27FC236}">
                <a16:creationId xmlns:a16="http://schemas.microsoft.com/office/drawing/2014/main" id="{32C9AE6F-AB47-4200-CE31-36B795CFA170}"/>
              </a:ext>
            </a:extLst>
          </p:cNvPr>
          <p:cNvSpPr txBox="1"/>
          <p:nvPr/>
        </p:nvSpPr>
        <p:spPr>
          <a:xfrm>
            <a:off x="500154" y="523086"/>
            <a:ext cx="1469038" cy="584775"/>
          </a:xfrm>
          <a:prstGeom prst="rect">
            <a:avLst/>
          </a:prstGeom>
          <a:noFill/>
        </p:spPr>
        <p:txBody>
          <a:bodyPr wrap="square" rtlCol="0">
            <a:spAutoFit/>
          </a:bodyPr>
          <a:lstStyle/>
          <a:p>
            <a:pPr algn="ctr"/>
            <a:r>
              <a:rPr lang="en-US" sz="1600" dirty="0"/>
              <a:t>SMIF Input</a:t>
            </a:r>
            <a:br>
              <a:rPr lang="en-US" sz="1600" dirty="0"/>
            </a:br>
            <a:r>
              <a:rPr lang="en-US" sz="1600" dirty="0"/>
              <a:t>(.</a:t>
            </a:r>
            <a:r>
              <a:rPr lang="en-US" sz="1600" dirty="0" err="1"/>
              <a:t>cmap</a:t>
            </a:r>
            <a:r>
              <a:rPr lang="en-US" sz="1600" dirty="0"/>
              <a:t>)</a:t>
            </a:r>
            <a:endParaRPr lang="en-JP" sz="1600" dirty="0"/>
          </a:p>
        </p:txBody>
      </p:sp>
      <p:sp>
        <p:nvSpPr>
          <p:cNvPr id="8" name="Rounded Rectangle 7">
            <a:extLst>
              <a:ext uri="{FF2B5EF4-FFF2-40B4-BE49-F238E27FC236}">
                <a16:creationId xmlns:a16="http://schemas.microsoft.com/office/drawing/2014/main" id="{DFCA9BDB-4B24-0ADA-A147-D3349C8F2BE6}"/>
              </a:ext>
            </a:extLst>
          </p:cNvPr>
          <p:cNvSpPr/>
          <p:nvPr/>
        </p:nvSpPr>
        <p:spPr>
          <a:xfrm>
            <a:off x="2775495" y="849475"/>
            <a:ext cx="1206614" cy="898895"/>
          </a:xfrm>
          <a:prstGeom prst="roundRect">
            <a:avLst/>
          </a:prstGeom>
          <a:solidFill>
            <a:schemeClr val="tx2">
              <a:lumMod val="25000"/>
              <a:lumOff val="75000"/>
            </a:schemeClr>
          </a:solid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p:sp>
        <p:nvSpPr>
          <p:cNvPr id="9" name="TextBox 8">
            <a:extLst>
              <a:ext uri="{FF2B5EF4-FFF2-40B4-BE49-F238E27FC236}">
                <a16:creationId xmlns:a16="http://schemas.microsoft.com/office/drawing/2014/main" id="{9F299A41-9802-6EEF-C3B7-3497A5987B43}"/>
              </a:ext>
            </a:extLst>
          </p:cNvPr>
          <p:cNvSpPr txBox="1"/>
          <p:nvPr/>
        </p:nvSpPr>
        <p:spPr>
          <a:xfrm>
            <a:off x="2824687" y="1030047"/>
            <a:ext cx="1116990" cy="523477"/>
          </a:xfrm>
          <a:prstGeom prst="rect">
            <a:avLst/>
          </a:prstGeom>
          <a:noFill/>
        </p:spPr>
        <p:txBody>
          <a:bodyPr wrap="square" rtlCol="0">
            <a:spAutoFit/>
          </a:bodyPr>
          <a:lstStyle/>
          <a:p>
            <a:pPr algn="ctr"/>
            <a:r>
              <a:rPr lang="en-US" sz="1401" dirty="0"/>
              <a:t>Conditional Encoder</a:t>
            </a:r>
            <a:endParaRPr lang="en-JP" sz="1401" dirty="0"/>
          </a:p>
        </p:txBody>
      </p:sp>
      <p:sp>
        <p:nvSpPr>
          <p:cNvPr id="13" name="Rounded Rectangle 12">
            <a:extLst>
              <a:ext uri="{FF2B5EF4-FFF2-40B4-BE49-F238E27FC236}">
                <a16:creationId xmlns:a16="http://schemas.microsoft.com/office/drawing/2014/main" id="{FB5E46E7-25F6-184D-B478-300E4F0E2BAB}"/>
              </a:ext>
            </a:extLst>
          </p:cNvPr>
          <p:cNvSpPr/>
          <p:nvPr/>
        </p:nvSpPr>
        <p:spPr>
          <a:xfrm>
            <a:off x="4514036" y="2593369"/>
            <a:ext cx="1206614" cy="495614"/>
          </a:xfrm>
          <a:prstGeom prst="roundRect">
            <a:avLst/>
          </a:prstGeom>
          <a:solidFill>
            <a:schemeClr val="bg1"/>
          </a:solidFill>
          <a:ln w="285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E5E3295-3BEB-ECAB-E9F2-3C654C44FE75}"/>
                  </a:ext>
                </a:extLst>
              </p:cNvPr>
              <p:cNvSpPr txBox="1"/>
              <p:nvPr/>
            </p:nvSpPr>
            <p:spPr>
              <a:xfrm>
                <a:off x="4527348" y="2667088"/>
                <a:ext cx="1206614" cy="307905"/>
              </a:xfrm>
              <a:prstGeom prst="rect">
                <a:avLst/>
              </a:prstGeom>
              <a:noFill/>
            </p:spPr>
            <p:txBody>
              <a:bodyPr wrap="square" rtlCol="0">
                <a:spAutoFit/>
              </a:bodyPr>
              <a:lstStyle/>
              <a:p>
                <a:pPr algn="ctr"/>
                <a:r>
                  <a:rPr lang="en-US" sz="1401" dirty="0"/>
                  <a:t>Mean, </a:t>
                </a:r>
                <a14:m>
                  <m:oMath xmlns:m="http://schemas.openxmlformats.org/officeDocument/2006/math">
                    <m:r>
                      <a:rPr lang="en-US" sz="1401" i="1">
                        <a:latin typeface="Cambria Math" panose="02040503050406030204" pitchFamily="18" charset="0"/>
                        <a:ea typeface="Cambria Math" panose="02040503050406030204" pitchFamily="18" charset="0"/>
                      </a:rPr>
                      <m:t>𝜇</m:t>
                    </m:r>
                  </m:oMath>
                </a14:m>
                <a:r>
                  <a:rPr lang="en-US" sz="1401" dirty="0"/>
                  <a:t> </a:t>
                </a:r>
                <a:endParaRPr lang="en-JP" sz="1401" dirty="0"/>
              </a:p>
            </p:txBody>
          </p:sp>
        </mc:Choice>
        <mc:Fallback xmlns="">
          <p:sp>
            <p:nvSpPr>
              <p:cNvPr id="14" name="TextBox 13">
                <a:extLst>
                  <a:ext uri="{FF2B5EF4-FFF2-40B4-BE49-F238E27FC236}">
                    <a16:creationId xmlns:a16="http://schemas.microsoft.com/office/drawing/2014/main" id="{FE5E3295-3BEB-ECAB-E9F2-3C654C44FE75}"/>
                  </a:ext>
                </a:extLst>
              </p:cNvPr>
              <p:cNvSpPr txBox="1">
                <a:spLocks noRot="1" noChangeAspect="1" noMove="1" noResize="1" noEditPoints="1" noAdjustHandles="1" noChangeArrowheads="1" noChangeShapeType="1" noTextEdit="1"/>
              </p:cNvSpPr>
              <p:nvPr/>
            </p:nvSpPr>
            <p:spPr>
              <a:xfrm>
                <a:off x="4527348" y="2667088"/>
                <a:ext cx="1206614" cy="307905"/>
              </a:xfrm>
              <a:prstGeom prst="rect">
                <a:avLst/>
              </a:prstGeom>
              <a:blipFill>
                <a:blip r:embed="rId2"/>
                <a:stretch>
                  <a:fillRect t="-4000" b="-20000"/>
                </a:stretch>
              </a:blipFill>
            </p:spPr>
            <p:txBody>
              <a:bodyPr/>
              <a:lstStyle/>
              <a:p>
                <a:r>
                  <a:rPr lang="en-JP">
                    <a:noFill/>
                  </a:rPr>
                  <a:t> </a:t>
                </a:r>
              </a:p>
            </p:txBody>
          </p:sp>
        </mc:Fallback>
      </mc:AlternateContent>
      <p:sp>
        <p:nvSpPr>
          <p:cNvPr id="15" name="Rounded Rectangle 14">
            <a:extLst>
              <a:ext uri="{FF2B5EF4-FFF2-40B4-BE49-F238E27FC236}">
                <a16:creationId xmlns:a16="http://schemas.microsoft.com/office/drawing/2014/main" id="{8F904659-FCA3-A1A5-5F8D-9A0554082599}"/>
              </a:ext>
            </a:extLst>
          </p:cNvPr>
          <p:cNvSpPr/>
          <p:nvPr/>
        </p:nvSpPr>
        <p:spPr>
          <a:xfrm>
            <a:off x="4508611" y="3237557"/>
            <a:ext cx="1206614" cy="495614"/>
          </a:xfrm>
          <a:prstGeom prst="roundRect">
            <a:avLst/>
          </a:prstGeom>
          <a:solidFill>
            <a:schemeClr val="bg1"/>
          </a:solidFill>
          <a:ln w="285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80CAB41-CDCB-2BC4-7BD3-D8E6769F5ADE}"/>
                  </a:ext>
                </a:extLst>
              </p:cNvPr>
              <p:cNvSpPr txBox="1"/>
              <p:nvPr/>
            </p:nvSpPr>
            <p:spPr>
              <a:xfrm>
                <a:off x="4553082" y="3323776"/>
                <a:ext cx="1162142" cy="307905"/>
              </a:xfrm>
              <a:prstGeom prst="rect">
                <a:avLst/>
              </a:prstGeom>
              <a:noFill/>
            </p:spPr>
            <p:txBody>
              <a:bodyPr wrap="square" rtlCol="0">
                <a:spAutoFit/>
              </a:bodyPr>
              <a:lstStyle/>
              <a:p>
                <a:pPr algn="ctr"/>
                <a:r>
                  <a:rPr lang="en-US" sz="1401" dirty="0"/>
                  <a:t>Variance, </a:t>
                </a:r>
                <a14:m>
                  <m:oMath xmlns:m="http://schemas.openxmlformats.org/officeDocument/2006/math">
                    <m:r>
                      <a:rPr lang="en-US" sz="1401" i="1">
                        <a:latin typeface="Cambria Math" panose="02040503050406030204" pitchFamily="18" charset="0"/>
                        <a:ea typeface="Cambria Math" panose="02040503050406030204" pitchFamily="18" charset="0"/>
                      </a:rPr>
                      <m:t>𝜎</m:t>
                    </m:r>
                  </m:oMath>
                </a14:m>
                <a:endParaRPr lang="en-JP" sz="1401" dirty="0"/>
              </a:p>
            </p:txBody>
          </p:sp>
        </mc:Choice>
        <mc:Fallback xmlns="">
          <p:sp>
            <p:nvSpPr>
              <p:cNvPr id="16" name="TextBox 15">
                <a:extLst>
                  <a:ext uri="{FF2B5EF4-FFF2-40B4-BE49-F238E27FC236}">
                    <a16:creationId xmlns:a16="http://schemas.microsoft.com/office/drawing/2014/main" id="{980CAB41-CDCB-2BC4-7BD3-D8E6769F5ADE}"/>
                  </a:ext>
                </a:extLst>
              </p:cNvPr>
              <p:cNvSpPr txBox="1">
                <a:spLocks noRot="1" noChangeAspect="1" noMove="1" noResize="1" noEditPoints="1" noAdjustHandles="1" noChangeArrowheads="1" noChangeShapeType="1" noTextEdit="1"/>
              </p:cNvSpPr>
              <p:nvPr/>
            </p:nvSpPr>
            <p:spPr>
              <a:xfrm>
                <a:off x="4553082" y="3323776"/>
                <a:ext cx="1162142" cy="307905"/>
              </a:xfrm>
              <a:prstGeom prst="rect">
                <a:avLst/>
              </a:prstGeom>
              <a:blipFill>
                <a:blip r:embed="rId3"/>
                <a:stretch>
                  <a:fillRect t="-3846" b="-15385"/>
                </a:stretch>
              </a:blipFill>
            </p:spPr>
            <p:txBody>
              <a:bodyPr/>
              <a:lstStyle/>
              <a:p>
                <a:r>
                  <a:rPr lang="en-JP">
                    <a:noFill/>
                  </a:rPr>
                  <a:t> </a:t>
                </a:r>
              </a:p>
            </p:txBody>
          </p:sp>
        </mc:Fallback>
      </mc:AlternateContent>
      <p:sp>
        <p:nvSpPr>
          <p:cNvPr id="17" name="Rounded Rectangle 16">
            <a:extLst>
              <a:ext uri="{FF2B5EF4-FFF2-40B4-BE49-F238E27FC236}">
                <a16:creationId xmlns:a16="http://schemas.microsoft.com/office/drawing/2014/main" id="{32F4001D-7052-4535-83F4-03D7E79B8217}"/>
              </a:ext>
            </a:extLst>
          </p:cNvPr>
          <p:cNvSpPr/>
          <p:nvPr/>
        </p:nvSpPr>
        <p:spPr>
          <a:xfrm>
            <a:off x="6091766" y="1047683"/>
            <a:ext cx="1525514" cy="495614"/>
          </a:xfrm>
          <a:prstGeom prst="roundRect">
            <a:avLst/>
          </a:prstGeom>
          <a:solidFill>
            <a:schemeClr val="bg1"/>
          </a:solidFill>
          <a:ln w="285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F078E9F-D55B-C7DE-114B-6CE54FB4307F}"/>
                  </a:ext>
                </a:extLst>
              </p:cNvPr>
              <p:cNvSpPr txBox="1"/>
              <p:nvPr/>
            </p:nvSpPr>
            <p:spPr>
              <a:xfrm>
                <a:off x="6069298" y="1047684"/>
                <a:ext cx="1567385" cy="523477"/>
              </a:xfrm>
              <a:prstGeom prst="rect">
                <a:avLst/>
              </a:prstGeom>
              <a:noFill/>
            </p:spPr>
            <p:txBody>
              <a:bodyPr wrap="square" rtlCol="0">
                <a:spAutoFit/>
              </a:bodyPr>
              <a:lstStyle/>
              <a:p>
                <a:pPr algn="ctr"/>
                <a:r>
                  <a:rPr lang="en-US" sz="1401" dirty="0"/>
                  <a:t>Concatenate </a:t>
                </a:r>
                <a14:m>
                  <m:oMath xmlns:m="http://schemas.openxmlformats.org/officeDocument/2006/math">
                    <m:r>
                      <a:rPr lang="en-US" sz="1401" i="1">
                        <a:latin typeface="Cambria Math" panose="02040503050406030204" pitchFamily="18" charset="0"/>
                      </a:rPr>
                      <m:t>[</m:t>
                    </m:r>
                    <m:r>
                      <a:rPr lang="en-US" sz="1401" i="1">
                        <a:latin typeface="Cambria Math" panose="02040503050406030204" pitchFamily="18" charset="0"/>
                      </a:rPr>
                      <m:t>𝑧</m:t>
                    </m:r>
                    <m:r>
                      <a:rPr lang="en-US" sz="1401" i="1">
                        <a:latin typeface="Cambria Math" panose="02040503050406030204" pitchFamily="18" charset="0"/>
                      </a:rPr>
                      <m:t>,</m:t>
                    </m:r>
                    <m:r>
                      <a:rPr lang="en-US" sz="1401" i="1">
                        <a:latin typeface="Cambria Math" panose="02040503050406030204" pitchFamily="18" charset="0"/>
                      </a:rPr>
                      <m:t>𝑐</m:t>
                    </m:r>
                    <m:r>
                      <a:rPr lang="en-US" sz="1401" i="1">
                        <a:latin typeface="Cambria Math" panose="02040503050406030204" pitchFamily="18" charset="0"/>
                      </a:rPr>
                      <m:t>]</m:t>
                    </m:r>
                  </m:oMath>
                </a14:m>
                <a:r>
                  <a:rPr lang="en-US" sz="1401" dirty="0"/>
                  <a:t> </a:t>
                </a:r>
              </a:p>
            </p:txBody>
          </p:sp>
        </mc:Choice>
        <mc:Fallback xmlns="">
          <p:sp>
            <p:nvSpPr>
              <p:cNvPr id="18" name="TextBox 17">
                <a:extLst>
                  <a:ext uri="{FF2B5EF4-FFF2-40B4-BE49-F238E27FC236}">
                    <a16:creationId xmlns:a16="http://schemas.microsoft.com/office/drawing/2014/main" id="{1F078E9F-D55B-C7DE-114B-6CE54FB4307F}"/>
                  </a:ext>
                </a:extLst>
              </p:cNvPr>
              <p:cNvSpPr txBox="1">
                <a:spLocks noRot="1" noChangeAspect="1" noMove="1" noResize="1" noEditPoints="1" noAdjustHandles="1" noChangeArrowheads="1" noChangeShapeType="1" noTextEdit="1"/>
              </p:cNvSpPr>
              <p:nvPr/>
            </p:nvSpPr>
            <p:spPr>
              <a:xfrm>
                <a:off x="6069298" y="1047684"/>
                <a:ext cx="1567385" cy="523477"/>
              </a:xfrm>
              <a:prstGeom prst="rect">
                <a:avLst/>
              </a:prstGeom>
              <a:blipFill>
                <a:blip r:embed="rId4"/>
                <a:stretch>
                  <a:fillRect t="-2381" b="-4762"/>
                </a:stretch>
              </a:blipFill>
            </p:spPr>
            <p:txBody>
              <a:bodyPr/>
              <a:lstStyle/>
              <a:p>
                <a:r>
                  <a:rPr lang="en-JP">
                    <a:noFill/>
                  </a:rPr>
                  <a:t> </a:t>
                </a:r>
              </a:p>
            </p:txBody>
          </p:sp>
        </mc:Fallback>
      </mc:AlternateContent>
      <p:sp>
        <p:nvSpPr>
          <p:cNvPr id="19" name="Rounded Rectangle 18">
            <a:extLst>
              <a:ext uri="{FF2B5EF4-FFF2-40B4-BE49-F238E27FC236}">
                <a16:creationId xmlns:a16="http://schemas.microsoft.com/office/drawing/2014/main" id="{46CD16B9-CC2E-7B0F-B987-E7CC3CA16A15}"/>
              </a:ext>
            </a:extLst>
          </p:cNvPr>
          <p:cNvSpPr/>
          <p:nvPr/>
        </p:nvSpPr>
        <p:spPr>
          <a:xfrm>
            <a:off x="8082217" y="1044094"/>
            <a:ext cx="1206614" cy="495614"/>
          </a:xfrm>
          <a:prstGeom prst="roundRect">
            <a:avLst/>
          </a:prstGeom>
          <a:solidFill>
            <a:schemeClr val="accent5">
              <a:lumMod val="20000"/>
              <a:lumOff val="80000"/>
            </a:schemeClr>
          </a:solid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p:sp>
        <p:nvSpPr>
          <p:cNvPr id="20" name="TextBox 19">
            <a:extLst>
              <a:ext uri="{FF2B5EF4-FFF2-40B4-BE49-F238E27FC236}">
                <a16:creationId xmlns:a16="http://schemas.microsoft.com/office/drawing/2014/main" id="{98CA93FA-3218-9D1F-5B0F-5ABF1E3807F2}"/>
              </a:ext>
            </a:extLst>
          </p:cNvPr>
          <p:cNvSpPr txBox="1"/>
          <p:nvPr/>
        </p:nvSpPr>
        <p:spPr>
          <a:xfrm>
            <a:off x="8082217" y="1127665"/>
            <a:ext cx="1279708" cy="307905"/>
          </a:xfrm>
          <a:prstGeom prst="rect">
            <a:avLst/>
          </a:prstGeom>
          <a:noFill/>
        </p:spPr>
        <p:txBody>
          <a:bodyPr wrap="square" rtlCol="0">
            <a:spAutoFit/>
          </a:bodyPr>
          <a:lstStyle/>
          <a:p>
            <a:pPr algn="ctr"/>
            <a:r>
              <a:rPr lang="en-US" sz="1401" dirty="0"/>
              <a:t>Latent space</a:t>
            </a:r>
            <a:endParaRPr lang="en-JP" sz="1401" dirty="0"/>
          </a:p>
        </p:txBody>
      </p:sp>
      <p:sp>
        <p:nvSpPr>
          <p:cNvPr id="21" name="Rounded Rectangle 20">
            <a:extLst>
              <a:ext uri="{FF2B5EF4-FFF2-40B4-BE49-F238E27FC236}">
                <a16:creationId xmlns:a16="http://schemas.microsoft.com/office/drawing/2014/main" id="{F85B411D-1CD9-5986-B9E2-3835CF73FAD3}"/>
              </a:ext>
            </a:extLst>
          </p:cNvPr>
          <p:cNvSpPr/>
          <p:nvPr/>
        </p:nvSpPr>
        <p:spPr>
          <a:xfrm>
            <a:off x="8082217" y="1776802"/>
            <a:ext cx="1206614" cy="495614"/>
          </a:xfrm>
          <a:prstGeom prst="roundRect">
            <a:avLst/>
          </a:prstGeom>
          <a:solidFill>
            <a:schemeClr val="tx2">
              <a:lumMod val="25000"/>
              <a:lumOff val="75000"/>
            </a:schemeClr>
          </a:solid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p:sp>
        <p:nvSpPr>
          <p:cNvPr id="22" name="TextBox 21">
            <a:extLst>
              <a:ext uri="{FF2B5EF4-FFF2-40B4-BE49-F238E27FC236}">
                <a16:creationId xmlns:a16="http://schemas.microsoft.com/office/drawing/2014/main" id="{DFB995EE-3408-90BB-3514-29E7C9E80EA3}"/>
              </a:ext>
            </a:extLst>
          </p:cNvPr>
          <p:cNvSpPr txBox="1"/>
          <p:nvPr/>
        </p:nvSpPr>
        <p:spPr>
          <a:xfrm>
            <a:off x="8291496" y="1865392"/>
            <a:ext cx="893338" cy="307905"/>
          </a:xfrm>
          <a:prstGeom prst="rect">
            <a:avLst/>
          </a:prstGeom>
          <a:noFill/>
        </p:spPr>
        <p:txBody>
          <a:bodyPr wrap="square" rtlCol="0">
            <a:spAutoFit/>
          </a:bodyPr>
          <a:lstStyle/>
          <a:p>
            <a:r>
              <a:rPr lang="en-US" sz="1401" dirty="0"/>
              <a:t>Decoder</a:t>
            </a:r>
            <a:endParaRPr lang="en-JP" sz="1401" dirty="0"/>
          </a:p>
        </p:txBody>
      </p:sp>
      <p:cxnSp>
        <p:nvCxnSpPr>
          <p:cNvPr id="27" name="Straight Arrow Connector 26">
            <a:extLst>
              <a:ext uri="{FF2B5EF4-FFF2-40B4-BE49-F238E27FC236}">
                <a16:creationId xmlns:a16="http://schemas.microsoft.com/office/drawing/2014/main" id="{8A72683F-54E8-AD04-5002-341E91738CB2}"/>
              </a:ext>
            </a:extLst>
          </p:cNvPr>
          <p:cNvCxnSpPr>
            <a:cxnSpLocks/>
          </p:cNvCxnSpPr>
          <p:nvPr/>
        </p:nvCxnSpPr>
        <p:spPr>
          <a:xfrm>
            <a:off x="2170886" y="3237558"/>
            <a:ext cx="598914" cy="0"/>
          </a:xfrm>
          <a:prstGeom prst="straightConnector1">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919CE1D7-F210-C637-1AF5-5AFBA80A2E18}"/>
              </a:ext>
            </a:extLst>
          </p:cNvPr>
          <p:cNvCxnSpPr>
            <a:cxnSpLocks/>
          </p:cNvCxnSpPr>
          <p:nvPr/>
        </p:nvCxnSpPr>
        <p:spPr>
          <a:xfrm>
            <a:off x="3991662" y="1298921"/>
            <a:ext cx="2104338" cy="0"/>
          </a:xfrm>
          <a:prstGeom prst="straightConnector1">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2A532E4-238E-344D-5993-977309286571}"/>
              </a:ext>
            </a:extLst>
          </p:cNvPr>
          <p:cNvCxnSpPr>
            <a:cxnSpLocks/>
          </p:cNvCxnSpPr>
          <p:nvPr/>
        </p:nvCxnSpPr>
        <p:spPr>
          <a:xfrm>
            <a:off x="3976415" y="3477665"/>
            <a:ext cx="519899" cy="0"/>
          </a:xfrm>
          <a:prstGeom prst="straightConnector1">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46EB742-CF84-61C9-0F7D-4515CF82B99D}"/>
              </a:ext>
            </a:extLst>
          </p:cNvPr>
          <p:cNvCxnSpPr>
            <a:cxnSpLocks/>
          </p:cNvCxnSpPr>
          <p:nvPr/>
        </p:nvCxnSpPr>
        <p:spPr>
          <a:xfrm>
            <a:off x="3930161" y="2919453"/>
            <a:ext cx="578450" cy="0"/>
          </a:xfrm>
          <a:prstGeom prst="straightConnector1">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Elbow Connector 34">
            <a:extLst>
              <a:ext uri="{FF2B5EF4-FFF2-40B4-BE49-F238E27FC236}">
                <a16:creationId xmlns:a16="http://schemas.microsoft.com/office/drawing/2014/main" id="{09E8994E-8F37-31B5-315B-2EBEE41E35F0}"/>
              </a:ext>
            </a:extLst>
          </p:cNvPr>
          <p:cNvCxnSpPr>
            <a:cxnSpLocks/>
            <a:stCxn id="16" idx="3"/>
            <a:endCxn id="18" idx="2"/>
          </p:cNvCxnSpPr>
          <p:nvPr/>
        </p:nvCxnSpPr>
        <p:spPr>
          <a:xfrm flipV="1">
            <a:off x="5715224" y="1571161"/>
            <a:ext cx="1137767" cy="1906568"/>
          </a:xfrm>
          <a:prstGeom prst="bentConnector2">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39D73C8-4F62-9E05-2790-2FC14A018742}"/>
              </a:ext>
            </a:extLst>
          </p:cNvPr>
          <p:cNvCxnSpPr>
            <a:cxnSpLocks/>
          </p:cNvCxnSpPr>
          <p:nvPr/>
        </p:nvCxnSpPr>
        <p:spPr>
          <a:xfrm>
            <a:off x="5715225" y="2894679"/>
            <a:ext cx="1158702"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D7580A53-8FA4-2996-3A27-8427483CCBFB}"/>
              </a:ext>
            </a:extLst>
          </p:cNvPr>
          <p:cNvCxnSpPr>
            <a:cxnSpLocks/>
            <a:stCxn id="19" idx="2"/>
            <a:endCxn id="21" idx="0"/>
          </p:cNvCxnSpPr>
          <p:nvPr/>
        </p:nvCxnSpPr>
        <p:spPr>
          <a:xfrm>
            <a:off x="8685524" y="1539708"/>
            <a:ext cx="0" cy="237095"/>
          </a:xfrm>
          <a:prstGeom prst="straightConnector1">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6">
            <a:extLst>
              <a:ext uri="{FF2B5EF4-FFF2-40B4-BE49-F238E27FC236}">
                <a16:creationId xmlns:a16="http://schemas.microsoft.com/office/drawing/2014/main" id="{B1B43548-7191-4C2D-AFD4-B614CF2FBBCB}"/>
              </a:ext>
            </a:extLst>
          </p:cNvPr>
          <p:cNvSpPr>
            <a:spLocks noChangeArrowheads="1"/>
          </p:cNvSpPr>
          <p:nvPr/>
        </p:nvSpPr>
        <p:spPr bwMode="auto">
          <a:xfrm>
            <a:off x="5580710" y="2125913"/>
            <a:ext cx="184731" cy="36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1" rIns="91440" bIns="45721" numCol="1" anchor="ctr" anchorCtr="0" compatLnSpc="1">
            <a:prstTxWarp prst="textNoShape">
              <a:avLst/>
            </a:prstTxWarp>
            <a:spAutoFit/>
          </a:bodyPr>
          <a:lstStyle/>
          <a:p>
            <a:endParaRPr lang="en-JP" sz="1801"/>
          </a:p>
        </p:txBody>
      </p:sp>
      <p:sp>
        <p:nvSpPr>
          <p:cNvPr id="55" name="Rounded Rectangle 54">
            <a:extLst>
              <a:ext uri="{FF2B5EF4-FFF2-40B4-BE49-F238E27FC236}">
                <a16:creationId xmlns:a16="http://schemas.microsoft.com/office/drawing/2014/main" id="{30359764-6CD1-810A-9D87-8D1CEAF7FE2E}"/>
              </a:ext>
            </a:extLst>
          </p:cNvPr>
          <p:cNvSpPr/>
          <p:nvPr/>
        </p:nvSpPr>
        <p:spPr>
          <a:xfrm>
            <a:off x="337263" y="2339914"/>
            <a:ext cx="1855870" cy="1642354"/>
          </a:xfrm>
          <a:prstGeom prst="roundRect">
            <a:avLst/>
          </a:prstGeom>
          <a:solidFill>
            <a:schemeClr val="bg1"/>
          </a:solidFill>
          <a:ln w="285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p:pic>
        <p:nvPicPr>
          <p:cNvPr id="57" name="Picture 56">
            <a:extLst>
              <a:ext uri="{FF2B5EF4-FFF2-40B4-BE49-F238E27FC236}">
                <a16:creationId xmlns:a16="http://schemas.microsoft.com/office/drawing/2014/main" id="{4281F8AB-E85D-9668-1887-D9644B09B603}"/>
              </a:ext>
            </a:extLst>
          </p:cNvPr>
          <p:cNvPicPr>
            <a:picLocks noChangeAspect="1"/>
          </p:cNvPicPr>
          <p:nvPr/>
        </p:nvPicPr>
        <p:blipFill>
          <a:blip r:embed="rId5"/>
          <a:srcRect l="10194" t="79165" r="69867" b="9997"/>
          <a:stretch/>
        </p:blipFill>
        <p:spPr>
          <a:xfrm>
            <a:off x="568595" y="3090708"/>
            <a:ext cx="1490422" cy="827499"/>
          </a:xfrm>
          <a:prstGeom prst="rect">
            <a:avLst/>
          </a:prstGeom>
        </p:spPr>
      </p:pic>
      <p:pic>
        <p:nvPicPr>
          <p:cNvPr id="63" name="Picture 62">
            <a:extLst>
              <a:ext uri="{FF2B5EF4-FFF2-40B4-BE49-F238E27FC236}">
                <a16:creationId xmlns:a16="http://schemas.microsoft.com/office/drawing/2014/main" id="{E42C7825-4C19-E574-58A7-BF595ED2098E}"/>
              </a:ext>
            </a:extLst>
          </p:cNvPr>
          <p:cNvPicPr>
            <a:picLocks noChangeAspect="1"/>
          </p:cNvPicPr>
          <p:nvPr/>
        </p:nvPicPr>
        <p:blipFill>
          <a:blip r:embed="rId6"/>
          <a:stretch>
            <a:fillRect/>
          </a:stretch>
        </p:blipFill>
        <p:spPr>
          <a:xfrm>
            <a:off x="563571" y="1124108"/>
            <a:ext cx="1408334" cy="941922"/>
          </a:xfrm>
          <a:prstGeom prst="rect">
            <a:avLst/>
          </a:prstGeom>
        </p:spPr>
      </p:pic>
      <p:sp>
        <p:nvSpPr>
          <p:cNvPr id="1028" name="Rounded Rectangle 1027">
            <a:extLst>
              <a:ext uri="{FF2B5EF4-FFF2-40B4-BE49-F238E27FC236}">
                <a16:creationId xmlns:a16="http://schemas.microsoft.com/office/drawing/2014/main" id="{DD2A115C-CF9B-1E6C-3EC1-68E70E344501}"/>
              </a:ext>
            </a:extLst>
          </p:cNvPr>
          <p:cNvSpPr/>
          <p:nvPr/>
        </p:nvSpPr>
        <p:spPr>
          <a:xfrm>
            <a:off x="2769799" y="2725873"/>
            <a:ext cx="1206614" cy="898895"/>
          </a:xfrm>
          <a:prstGeom prst="roundRect">
            <a:avLst/>
          </a:prstGeom>
          <a:solidFill>
            <a:schemeClr val="tx2">
              <a:lumMod val="25000"/>
              <a:lumOff val="75000"/>
            </a:schemeClr>
          </a:solid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p:sp>
        <p:nvSpPr>
          <p:cNvPr id="1030" name="TextBox 1029">
            <a:extLst>
              <a:ext uri="{FF2B5EF4-FFF2-40B4-BE49-F238E27FC236}">
                <a16:creationId xmlns:a16="http://schemas.microsoft.com/office/drawing/2014/main" id="{BDF71077-F560-9932-670A-236564A329C2}"/>
              </a:ext>
            </a:extLst>
          </p:cNvPr>
          <p:cNvSpPr txBox="1"/>
          <p:nvPr/>
        </p:nvSpPr>
        <p:spPr>
          <a:xfrm>
            <a:off x="2817575" y="2919454"/>
            <a:ext cx="1116990" cy="523477"/>
          </a:xfrm>
          <a:prstGeom prst="rect">
            <a:avLst/>
          </a:prstGeom>
          <a:noFill/>
        </p:spPr>
        <p:txBody>
          <a:bodyPr wrap="square" rtlCol="0">
            <a:spAutoFit/>
          </a:bodyPr>
          <a:lstStyle/>
          <a:p>
            <a:pPr algn="ctr"/>
            <a:r>
              <a:rPr lang="en-US" sz="1401" dirty="0"/>
              <a:t>Input Encoder</a:t>
            </a:r>
            <a:endParaRPr lang="en-JP" sz="1401" dirty="0"/>
          </a:p>
        </p:txBody>
      </p:sp>
      <p:sp>
        <p:nvSpPr>
          <p:cNvPr id="1034" name="Rounded Rectangle 1033">
            <a:extLst>
              <a:ext uri="{FF2B5EF4-FFF2-40B4-BE49-F238E27FC236}">
                <a16:creationId xmlns:a16="http://schemas.microsoft.com/office/drawing/2014/main" id="{C6102657-73B7-AEA5-3851-36A1ADDC027C}"/>
              </a:ext>
            </a:extLst>
          </p:cNvPr>
          <p:cNvSpPr/>
          <p:nvPr/>
        </p:nvSpPr>
        <p:spPr>
          <a:xfrm>
            <a:off x="7787907" y="2460651"/>
            <a:ext cx="1855870" cy="1642354"/>
          </a:xfrm>
          <a:prstGeom prst="roundRect">
            <a:avLst/>
          </a:prstGeom>
          <a:solidFill>
            <a:schemeClr val="bg1"/>
          </a:solidFill>
          <a:ln w="285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801"/>
          </a:p>
        </p:txBody>
      </p:sp>
      <p:pic>
        <p:nvPicPr>
          <p:cNvPr id="1036" name="Picture 1035">
            <a:extLst>
              <a:ext uri="{FF2B5EF4-FFF2-40B4-BE49-F238E27FC236}">
                <a16:creationId xmlns:a16="http://schemas.microsoft.com/office/drawing/2014/main" id="{F1BD76A4-2396-5BBB-52E0-578017A4BF56}"/>
              </a:ext>
            </a:extLst>
          </p:cNvPr>
          <p:cNvPicPr>
            <a:picLocks noChangeAspect="1"/>
          </p:cNvPicPr>
          <p:nvPr/>
        </p:nvPicPr>
        <p:blipFill>
          <a:blip r:embed="rId5"/>
          <a:srcRect l="10194" t="79165" r="72191" b="9997"/>
          <a:stretch/>
        </p:blipFill>
        <p:spPr>
          <a:xfrm>
            <a:off x="8090978" y="3231586"/>
            <a:ext cx="1331223" cy="836607"/>
          </a:xfrm>
          <a:prstGeom prst="rect">
            <a:avLst/>
          </a:prstGeom>
        </p:spPr>
      </p:pic>
      <p:sp>
        <p:nvSpPr>
          <p:cNvPr id="1035" name="TextBox 1034">
            <a:extLst>
              <a:ext uri="{FF2B5EF4-FFF2-40B4-BE49-F238E27FC236}">
                <a16:creationId xmlns:a16="http://schemas.microsoft.com/office/drawing/2014/main" id="{3BC13B78-8F1A-2428-1AE3-9B276B611DDD}"/>
              </a:ext>
            </a:extLst>
          </p:cNvPr>
          <p:cNvSpPr txBox="1"/>
          <p:nvPr/>
        </p:nvSpPr>
        <p:spPr>
          <a:xfrm>
            <a:off x="7790053" y="2512228"/>
            <a:ext cx="1829243" cy="830997"/>
          </a:xfrm>
          <a:prstGeom prst="rect">
            <a:avLst/>
          </a:prstGeom>
          <a:noFill/>
        </p:spPr>
        <p:txBody>
          <a:bodyPr wrap="square" rtlCol="0">
            <a:spAutoFit/>
          </a:bodyPr>
          <a:lstStyle/>
          <a:p>
            <a:pPr algn="ctr"/>
            <a:r>
              <a:rPr lang="en-US" sz="1600" dirty="0"/>
              <a:t>Generated Ligand Structure</a:t>
            </a:r>
            <a:br>
              <a:rPr lang="en-US" sz="1600" dirty="0"/>
            </a:br>
            <a:r>
              <a:rPr lang="en-US" sz="1600" dirty="0"/>
              <a:t>(.</a:t>
            </a:r>
            <a:r>
              <a:rPr lang="en-US" sz="1600" dirty="0" err="1"/>
              <a:t>pdb</a:t>
            </a:r>
            <a:r>
              <a:rPr lang="en-US" sz="1600" dirty="0"/>
              <a:t>)</a:t>
            </a:r>
            <a:endParaRPr lang="en-JP" sz="1600" dirty="0"/>
          </a:p>
        </p:txBody>
      </p:sp>
      <p:sp>
        <p:nvSpPr>
          <p:cNvPr id="56" name="TextBox 55">
            <a:extLst>
              <a:ext uri="{FF2B5EF4-FFF2-40B4-BE49-F238E27FC236}">
                <a16:creationId xmlns:a16="http://schemas.microsoft.com/office/drawing/2014/main" id="{37104FBE-BE4C-EAD0-3388-649AFADA1B81}"/>
              </a:ext>
            </a:extLst>
          </p:cNvPr>
          <p:cNvSpPr txBox="1"/>
          <p:nvPr/>
        </p:nvSpPr>
        <p:spPr>
          <a:xfrm>
            <a:off x="404648" y="2455418"/>
            <a:ext cx="1692978" cy="584775"/>
          </a:xfrm>
          <a:prstGeom prst="rect">
            <a:avLst/>
          </a:prstGeom>
          <a:noFill/>
        </p:spPr>
        <p:txBody>
          <a:bodyPr wrap="square" rtlCol="0">
            <a:spAutoFit/>
          </a:bodyPr>
          <a:lstStyle/>
          <a:p>
            <a:pPr algn="ctr"/>
            <a:r>
              <a:rPr lang="en-US" sz="1600" dirty="0"/>
              <a:t>Structure Input</a:t>
            </a:r>
          </a:p>
          <a:p>
            <a:pPr algn="ctr"/>
            <a:r>
              <a:rPr lang="en-US" sz="1600" dirty="0"/>
              <a:t>(.</a:t>
            </a:r>
            <a:r>
              <a:rPr lang="en-US" sz="1600" dirty="0" err="1"/>
              <a:t>pdb</a:t>
            </a:r>
            <a:r>
              <a:rPr lang="en-US" sz="1600" dirty="0"/>
              <a:t>)</a:t>
            </a:r>
            <a:endParaRPr lang="en-JP" sz="1600" dirty="0"/>
          </a:p>
        </p:txBody>
      </p:sp>
    </p:spTree>
    <p:extLst>
      <p:ext uri="{BB962C8B-B14F-4D97-AF65-F5344CB8AC3E}">
        <p14:creationId xmlns:p14="http://schemas.microsoft.com/office/powerpoint/2010/main" val="1991867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4BFEFCD-6A92-2ABA-F38D-7BA5FDD26790}"/>
              </a:ext>
            </a:extLst>
          </p:cNvPr>
          <p:cNvPicPr>
            <a:picLocks noChangeAspect="1"/>
          </p:cNvPicPr>
          <p:nvPr/>
        </p:nvPicPr>
        <p:blipFill>
          <a:blip r:embed="rId3"/>
          <a:stretch>
            <a:fillRect/>
          </a:stretch>
        </p:blipFill>
        <p:spPr>
          <a:xfrm>
            <a:off x="658159" y="177749"/>
            <a:ext cx="5274852" cy="3251251"/>
          </a:xfrm>
          <a:prstGeom prst="rect">
            <a:avLst/>
          </a:prstGeom>
        </p:spPr>
      </p:pic>
      <p:pic>
        <p:nvPicPr>
          <p:cNvPr id="26" name="Picture 25">
            <a:extLst>
              <a:ext uri="{FF2B5EF4-FFF2-40B4-BE49-F238E27FC236}">
                <a16:creationId xmlns:a16="http://schemas.microsoft.com/office/drawing/2014/main" id="{AF2F7599-9328-4741-BA51-B193D66BACEC}"/>
              </a:ext>
            </a:extLst>
          </p:cNvPr>
          <p:cNvPicPr>
            <a:picLocks noChangeAspect="1"/>
          </p:cNvPicPr>
          <p:nvPr/>
        </p:nvPicPr>
        <p:blipFill>
          <a:blip r:embed="rId4"/>
          <a:stretch>
            <a:fillRect/>
          </a:stretch>
        </p:blipFill>
        <p:spPr>
          <a:xfrm>
            <a:off x="3458574" y="3606750"/>
            <a:ext cx="5274851" cy="3251250"/>
          </a:xfrm>
          <a:prstGeom prst="rect">
            <a:avLst/>
          </a:prstGeom>
        </p:spPr>
      </p:pic>
      <p:pic>
        <p:nvPicPr>
          <p:cNvPr id="27" name="Picture 26">
            <a:extLst>
              <a:ext uri="{FF2B5EF4-FFF2-40B4-BE49-F238E27FC236}">
                <a16:creationId xmlns:a16="http://schemas.microsoft.com/office/drawing/2014/main" id="{7CC01429-3106-E01A-EE6B-8749A729092C}"/>
              </a:ext>
            </a:extLst>
          </p:cNvPr>
          <p:cNvPicPr>
            <a:picLocks noChangeAspect="1"/>
          </p:cNvPicPr>
          <p:nvPr/>
        </p:nvPicPr>
        <p:blipFill>
          <a:blip r:embed="rId5"/>
          <a:stretch>
            <a:fillRect/>
          </a:stretch>
        </p:blipFill>
        <p:spPr>
          <a:xfrm>
            <a:off x="6455770" y="177749"/>
            <a:ext cx="5315325" cy="3251251"/>
          </a:xfrm>
          <a:prstGeom prst="rect">
            <a:avLst/>
          </a:prstGeom>
        </p:spPr>
      </p:pic>
      <p:sp>
        <p:nvSpPr>
          <p:cNvPr id="28" name="TextBox 27">
            <a:extLst>
              <a:ext uri="{FF2B5EF4-FFF2-40B4-BE49-F238E27FC236}">
                <a16:creationId xmlns:a16="http://schemas.microsoft.com/office/drawing/2014/main" id="{5A703FEC-1C57-A038-F382-5D28640AD61C}"/>
              </a:ext>
            </a:extLst>
          </p:cNvPr>
          <p:cNvSpPr txBox="1"/>
          <p:nvPr/>
        </p:nvSpPr>
        <p:spPr>
          <a:xfrm>
            <a:off x="581828" y="145948"/>
            <a:ext cx="558616" cy="646331"/>
          </a:xfrm>
          <a:prstGeom prst="rect">
            <a:avLst/>
          </a:prstGeom>
          <a:noFill/>
        </p:spPr>
        <p:txBody>
          <a:bodyPr wrap="square" rtlCol="0">
            <a:spAutoFit/>
          </a:bodyPr>
          <a:lstStyle/>
          <a:p>
            <a:r>
              <a:rPr lang="en-JP" sz="3600" dirty="0"/>
              <a:t>A</a:t>
            </a:r>
          </a:p>
        </p:txBody>
      </p:sp>
      <p:sp>
        <p:nvSpPr>
          <p:cNvPr id="29" name="TextBox 28">
            <a:extLst>
              <a:ext uri="{FF2B5EF4-FFF2-40B4-BE49-F238E27FC236}">
                <a16:creationId xmlns:a16="http://schemas.microsoft.com/office/drawing/2014/main" id="{D29578C5-AAF3-9784-8F00-72F12D6DDDF7}"/>
              </a:ext>
            </a:extLst>
          </p:cNvPr>
          <p:cNvSpPr txBox="1"/>
          <p:nvPr/>
        </p:nvSpPr>
        <p:spPr>
          <a:xfrm>
            <a:off x="6258991" y="145947"/>
            <a:ext cx="558617" cy="646331"/>
          </a:xfrm>
          <a:prstGeom prst="rect">
            <a:avLst/>
          </a:prstGeom>
          <a:noFill/>
        </p:spPr>
        <p:txBody>
          <a:bodyPr wrap="square" rtlCol="0">
            <a:spAutoFit/>
          </a:bodyPr>
          <a:lstStyle/>
          <a:p>
            <a:r>
              <a:rPr lang="en-JP" sz="3600" dirty="0"/>
              <a:t>B</a:t>
            </a:r>
          </a:p>
        </p:txBody>
      </p:sp>
      <p:sp>
        <p:nvSpPr>
          <p:cNvPr id="30" name="TextBox 29">
            <a:extLst>
              <a:ext uri="{FF2B5EF4-FFF2-40B4-BE49-F238E27FC236}">
                <a16:creationId xmlns:a16="http://schemas.microsoft.com/office/drawing/2014/main" id="{1CEB0B3F-3269-C78F-4B61-D7A337CDFA1D}"/>
              </a:ext>
            </a:extLst>
          </p:cNvPr>
          <p:cNvSpPr txBox="1"/>
          <p:nvPr/>
        </p:nvSpPr>
        <p:spPr>
          <a:xfrm>
            <a:off x="3179266" y="3606750"/>
            <a:ext cx="558616" cy="646331"/>
          </a:xfrm>
          <a:prstGeom prst="rect">
            <a:avLst/>
          </a:prstGeom>
          <a:noFill/>
        </p:spPr>
        <p:txBody>
          <a:bodyPr wrap="square" rtlCol="0">
            <a:spAutoFit/>
          </a:bodyPr>
          <a:lstStyle/>
          <a:p>
            <a:r>
              <a:rPr lang="en-JP" sz="3600" dirty="0"/>
              <a:t>C</a:t>
            </a:r>
          </a:p>
        </p:txBody>
      </p:sp>
    </p:spTree>
    <p:extLst>
      <p:ext uri="{BB962C8B-B14F-4D97-AF65-F5344CB8AC3E}">
        <p14:creationId xmlns:p14="http://schemas.microsoft.com/office/powerpoint/2010/main" val="3972540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F09FB40-D74F-1BDF-F2CC-033B8C2625E0}"/>
              </a:ext>
            </a:extLst>
          </p:cNvPr>
          <p:cNvPicPr>
            <a:picLocks noGrp="1" noChangeAspect="1"/>
          </p:cNvPicPr>
          <p:nvPr>
            <p:ph idx="1"/>
          </p:nvPr>
        </p:nvPicPr>
        <p:blipFill>
          <a:blip r:embed="rId2"/>
          <a:srcRect l="10569" t="23105" r="13550" b="15501"/>
          <a:stretch/>
        </p:blipFill>
        <p:spPr>
          <a:xfrm>
            <a:off x="973325" y="917404"/>
            <a:ext cx="2861733" cy="2105418"/>
          </a:xfrm>
          <a:prstGeom prst="rect">
            <a:avLst/>
          </a:prstGeom>
        </p:spPr>
      </p:pic>
      <p:sp>
        <p:nvSpPr>
          <p:cNvPr id="5" name="Content Placeholder 2">
            <a:extLst>
              <a:ext uri="{FF2B5EF4-FFF2-40B4-BE49-F238E27FC236}">
                <a16:creationId xmlns:a16="http://schemas.microsoft.com/office/drawing/2014/main" id="{A618A6C3-8750-839B-DBAE-1D588A6B1EA6}"/>
              </a:ext>
            </a:extLst>
          </p:cNvPr>
          <p:cNvSpPr txBox="1">
            <a:spLocks/>
          </p:cNvSpPr>
          <p:nvPr/>
        </p:nvSpPr>
        <p:spPr>
          <a:xfrm>
            <a:off x="1362897" y="3037582"/>
            <a:ext cx="3066103" cy="3943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H-bond acceptors</a:t>
            </a:r>
            <a:endParaRPr lang="en-JP" dirty="0"/>
          </a:p>
        </p:txBody>
      </p:sp>
      <p:sp>
        <p:nvSpPr>
          <p:cNvPr id="6" name="Rectangle 5">
            <a:extLst>
              <a:ext uri="{FF2B5EF4-FFF2-40B4-BE49-F238E27FC236}">
                <a16:creationId xmlns:a16="http://schemas.microsoft.com/office/drawing/2014/main" id="{5F37DF29-C696-3CF1-DA96-1D91B0DC6EC5}"/>
              </a:ext>
            </a:extLst>
          </p:cNvPr>
          <p:cNvSpPr/>
          <p:nvPr/>
        </p:nvSpPr>
        <p:spPr>
          <a:xfrm>
            <a:off x="880576" y="331077"/>
            <a:ext cx="3066103" cy="30993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ln w="76200">
                <a:solidFill>
                  <a:schemeClr val="tx1"/>
                </a:solidFill>
              </a:ln>
              <a:noFill/>
            </a:endParaRPr>
          </a:p>
        </p:txBody>
      </p:sp>
      <p:sp>
        <p:nvSpPr>
          <p:cNvPr id="7" name="Content Placeholder 2">
            <a:extLst>
              <a:ext uri="{FF2B5EF4-FFF2-40B4-BE49-F238E27FC236}">
                <a16:creationId xmlns:a16="http://schemas.microsoft.com/office/drawing/2014/main" id="{07B91B6D-637B-BB24-99D9-779C266DBBEA}"/>
              </a:ext>
            </a:extLst>
          </p:cNvPr>
          <p:cNvSpPr txBox="1">
            <a:spLocks/>
          </p:cNvSpPr>
          <p:nvPr/>
        </p:nvSpPr>
        <p:spPr>
          <a:xfrm>
            <a:off x="4552604" y="3058545"/>
            <a:ext cx="2161611" cy="37192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H-bond acceptors</a:t>
            </a:r>
            <a:endParaRPr lang="en-JP" dirty="0"/>
          </a:p>
        </p:txBody>
      </p:sp>
      <p:sp>
        <p:nvSpPr>
          <p:cNvPr id="8" name="Content Placeholder 2">
            <a:extLst>
              <a:ext uri="{FF2B5EF4-FFF2-40B4-BE49-F238E27FC236}">
                <a16:creationId xmlns:a16="http://schemas.microsoft.com/office/drawing/2014/main" id="{E13629CE-F015-0E3B-7619-939CB04D787B}"/>
              </a:ext>
            </a:extLst>
          </p:cNvPr>
          <p:cNvSpPr txBox="1">
            <a:spLocks/>
          </p:cNvSpPr>
          <p:nvPr/>
        </p:nvSpPr>
        <p:spPr>
          <a:xfrm>
            <a:off x="7903294" y="3034386"/>
            <a:ext cx="1816320" cy="3943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H-bond donors</a:t>
            </a:r>
            <a:endParaRPr lang="en-JP" dirty="0"/>
          </a:p>
        </p:txBody>
      </p:sp>
      <p:pic>
        <p:nvPicPr>
          <p:cNvPr id="9" name="Picture 8">
            <a:extLst>
              <a:ext uri="{FF2B5EF4-FFF2-40B4-BE49-F238E27FC236}">
                <a16:creationId xmlns:a16="http://schemas.microsoft.com/office/drawing/2014/main" id="{2915B1BC-66F3-A206-4CD8-186E61929CC1}"/>
              </a:ext>
            </a:extLst>
          </p:cNvPr>
          <p:cNvPicPr>
            <a:picLocks noChangeAspect="1"/>
          </p:cNvPicPr>
          <p:nvPr/>
        </p:nvPicPr>
        <p:blipFill>
          <a:blip r:embed="rId3"/>
          <a:srcRect l="-493" t="5841" b="26563"/>
          <a:stretch/>
        </p:blipFill>
        <p:spPr>
          <a:xfrm>
            <a:off x="4203364" y="917404"/>
            <a:ext cx="2806810" cy="2125765"/>
          </a:xfrm>
          <a:prstGeom prst="rect">
            <a:avLst/>
          </a:prstGeom>
        </p:spPr>
      </p:pic>
      <p:pic>
        <p:nvPicPr>
          <p:cNvPr id="10" name="Picture 9">
            <a:extLst>
              <a:ext uri="{FF2B5EF4-FFF2-40B4-BE49-F238E27FC236}">
                <a16:creationId xmlns:a16="http://schemas.microsoft.com/office/drawing/2014/main" id="{C83270D4-ABFF-0F7D-E0B9-FB63F650BBFA}"/>
              </a:ext>
            </a:extLst>
          </p:cNvPr>
          <p:cNvPicPr>
            <a:picLocks noChangeAspect="1"/>
          </p:cNvPicPr>
          <p:nvPr/>
        </p:nvPicPr>
        <p:blipFill>
          <a:blip r:embed="rId4"/>
          <a:srcRect l="17706" t="20865" r="9664" b="27606"/>
          <a:stretch/>
        </p:blipFill>
        <p:spPr>
          <a:xfrm>
            <a:off x="7404039" y="924316"/>
            <a:ext cx="2645497" cy="2113266"/>
          </a:xfrm>
          <a:prstGeom prst="rect">
            <a:avLst/>
          </a:prstGeom>
        </p:spPr>
      </p:pic>
      <p:sp>
        <p:nvSpPr>
          <p:cNvPr id="11" name="Rectangle 10">
            <a:extLst>
              <a:ext uri="{FF2B5EF4-FFF2-40B4-BE49-F238E27FC236}">
                <a16:creationId xmlns:a16="http://schemas.microsoft.com/office/drawing/2014/main" id="{1F29F4E2-E85E-BF63-5FFE-577B7400F569}"/>
              </a:ext>
            </a:extLst>
          </p:cNvPr>
          <p:cNvSpPr/>
          <p:nvPr/>
        </p:nvSpPr>
        <p:spPr>
          <a:xfrm>
            <a:off x="4064488" y="331078"/>
            <a:ext cx="6102400" cy="309765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ln w="76200">
                <a:solidFill>
                  <a:schemeClr val="tx1"/>
                </a:solidFill>
              </a:ln>
              <a:noFill/>
            </a:endParaRPr>
          </a:p>
        </p:txBody>
      </p:sp>
      <p:pic>
        <p:nvPicPr>
          <p:cNvPr id="12" name="Picture 11">
            <a:extLst>
              <a:ext uri="{FF2B5EF4-FFF2-40B4-BE49-F238E27FC236}">
                <a16:creationId xmlns:a16="http://schemas.microsoft.com/office/drawing/2014/main" id="{81B3895D-5D3E-130A-B862-D9F2D083DDE5}"/>
              </a:ext>
            </a:extLst>
          </p:cNvPr>
          <p:cNvPicPr>
            <a:picLocks noChangeAspect="1"/>
          </p:cNvPicPr>
          <p:nvPr/>
        </p:nvPicPr>
        <p:blipFill>
          <a:blip r:embed="rId5"/>
          <a:srcRect l="17852" t="15037" r="9504" b="42259"/>
          <a:stretch/>
        </p:blipFill>
        <p:spPr>
          <a:xfrm>
            <a:off x="4203364" y="4108626"/>
            <a:ext cx="2777543" cy="2307309"/>
          </a:xfrm>
          <a:prstGeom prst="rect">
            <a:avLst/>
          </a:prstGeom>
        </p:spPr>
      </p:pic>
      <p:sp>
        <p:nvSpPr>
          <p:cNvPr id="13" name="Content Placeholder 2">
            <a:extLst>
              <a:ext uri="{FF2B5EF4-FFF2-40B4-BE49-F238E27FC236}">
                <a16:creationId xmlns:a16="http://schemas.microsoft.com/office/drawing/2014/main" id="{4EE62FB5-4D23-1406-5506-2F6EF2324498}"/>
              </a:ext>
            </a:extLst>
          </p:cNvPr>
          <p:cNvSpPr txBox="1">
            <a:spLocks/>
          </p:cNvSpPr>
          <p:nvPr/>
        </p:nvSpPr>
        <p:spPr>
          <a:xfrm>
            <a:off x="4203364" y="6415935"/>
            <a:ext cx="2777543" cy="37320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dirty="0"/>
              <a:t>H-bond acceptors</a:t>
            </a:r>
            <a:endParaRPr lang="en-JP" dirty="0"/>
          </a:p>
        </p:txBody>
      </p:sp>
      <p:pic>
        <p:nvPicPr>
          <p:cNvPr id="14" name="Content Placeholder 3">
            <a:extLst>
              <a:ext uri="{FF2B5EF4-FFF2-40B4-BE49-F238E27FC236}">
                <a16:creationId xmlns:a16="http://schemas.microsoft.com/office/drawing/2014/main" id="{BA387F70-9F53-A620-49A8-C25513EDB3EF}"/>
              </a:ext>
            </a:extLst>
          </p:cNvPr>
          <p:cNvPicPr>
            <a:picLocks noChangeAspect="1"/>
          </p:cNvPicPr>
          <p:nvPr/>
        </p:nvPicPr>
        <p:blipFill>
          <a:blip r:embed="rId6"/>
          <a:srcRect l="9439" t="9242" r="7117" b="40552"/>
          <a:stretch/>
        </p:blipFill>
        <p:spPr>
          <a:xfrm>
            <a:off x="973325" y="4108626"/>
            <a:ext cx="2861733" cy="2307309"/>
          </a:xfrm>
          <a:prstGeom prst="rect">
            <a:avLst/>
          </a:prstGeom>
        </p:spPr>
      </p:pic>
      <p:sp>
        <p:nvSpPr>
          <p:cNvPr id="15" name="Content Placeholder 2">
            <a:extLst>
              <a:ext uri="{FF2B5EF4-FFF2-40B4-BE49-F238E27FC236}">
                <a16:creationId xmlns:a16="http://schemas.microsoft.com/office/drawing/2014/main" id="{8F12A22F-89D4-07B1-74D6-B6F0977D05A3}"/>
              </a:ext>
            </a:extLst>
          </p:cNvPr>
          <p:cNvSpPr txBox="1">
            <a:spLocks/>
          </p:cNvSpPr>
          <p:nvPr/>
        </p:nvSpPr>
        <p:spPr>
          <a:xfrm>
            <a:off x="973325" y="6398098"/>
            <a:ext cx="2861733" cy="713587"/>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900" dirty="0"/>
              <a:t>Hydrophilicity</a:t>
            </a:r>
            <a:endParaRPr lang="en-JP" sz="1900" dirty="0"/>
          </a:p>
        </p:txBody>
      </p:sp>
      <p:sp>
        <p:nvSpPr>
          <p:cNvPr id="16" name="Rectangle 15">
            <a:extLst>
              <a:ext uri="{FF2B5EF4-FFF2-40B4-BE49-F238E27FC236}">
                <a16:creationId xmlns:a16="http://schemas.microsoft.com/office/drawing/2014/main" id="{738A356F-A8A2-7AE7-185B-F5434B5993D4}"/>
              </a:ext>
            </a:extLst>
          </p:cNvPr>
          <p:cNvSpPr/>
          <p:nvPr/>
        </p:nvSpPr>
        <p:spPr>
          <a:xfrm>
            <a:off x="4064487" y="3557879"/>
            <a:ext cx="6102400" cy="32312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ln w="76200">
                <a:solidFill>
                  <a:schemeClr val="tx1"/>
                </a:solidFill>
              </a:ln>
              <a:noFill/>
            </a:endParaRPr>
          </a:p>
        </p:txBody>
      </p:sp>
      <p:sp>
        <p:nvSpPr>
          <p:cNvPr id="17" name="Rectangle 16">
            <a:extLst>
              <a:ext uri="{FF2B5EF4-FFF2-40B4-BE49-F238E27FC236}">
                <a16:creationId xmlns:a16="http://schemas.microsoft.com/office/drawing/2014/main" id="{E4FE8166-FF85-8861-461C-E44AC170DF3A}"/>
              </a:ext>
            </a:extLst>
          </p:cNvPr>
          <p:cNvSpPr/>
          <p:nvPr/>
        </p:nvSpPr>
        <p:spPr>
          <a:xfrm>
            <a:off x="880576" y="3557880"/>
            <a:ext cx="3066102" cy="323657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ln w="76200">
                <a:solidFill>
                  <a:schemeClr val="tx1"/>
                </a:solidFill>
              </a:ln>
              <a:noFill/>
            </a:endParaRPr>
          </a:p>
        </p:txBody>
      </p:sp>
      <p:sp>
        <p:nvSpPr>
          <p:cNvPr id="18" name="TextBox 17">
            <a:extLst>
              <a:ext uri="{FF2B5EF4-FFF2-40B4-BE49-F238E27FC236}">
                <a16:creationId xmlns:a16="http://schemas.microsoft.com/office/drawing/2014/main" id="{D1CB42D9-5196-E68A-C02F-D7A00A2DFF14}"/>
              </a:ext>
            </a:extLst>
          </p:cNvPr>
          <p:cNvSpPr txBox="1"/>
          <p:nvPr/>
        </p:nvSpPr>
        <p:spPr>
          <a:xfrm>
            <a:off x="960881" y="334663"/>
            <a:ext cx="558616" cy="646331"/>
          </a:xfrm>
          <a:prstGeom prst="rect">
            <a:avLst/>
          </a:prstGeom>
          <a:noFill/>
        </p:spPr>
        <p:txBody>
          <a:bodyPr wrap="square" rtlCol="0">
            <a:spAutoFit/>
          </a:bodyPr>
          <a:lstStyle/>
          <a:p>
            <a:r>
              <a:rPr lang="en-JP" sz="3600" dirty="0"/>
              <a:t>A</a:t>
            </a:r>
          </a:p>
        </p:txBody>
      </p:sp>
      <p:sp>
        <p:nvSpPr>
          <p:cNvPr id="19" name="TextBox 18">
            <a:extLst>
              <a:ext uri="{FF2B5EF4-FFF2-40B4-BE49-F238E27FC236}">
                <a16:creationId xmlns:a16="http://schemas.microsoft.com/office/drawing/2014/main" id="{96D4C1E4-517A-0364-0CB8-55FD59690076}"/>
              </a:ext>
            </a:extLst>
          </p:cNvPr>
          <p:cNvSpPr txBox="1"/>
          <p:nvPr/>
        </p:nvSpPr>
        <p:spPr>
          <a:xfrm>
            <a:off x="4137247" y="331077"/>
            <a:ext cx="558617" cy="646331"/>
          </a:xfrm>
          <a:prstGeom prst="rect">
            <a:avLst/>
          </a:prstGeom>
          <a:noFill/>
        </p:spPr>
        <p:txBody>
          <a:bodyPr wrap="square" rtlCol="0">
            <a:spAutoFit/>
          </a:bodyPr>
          <a:lstStyle/>
          <a:p>
            <a:r>
              <a:rPr lang="en-JP" sz="3600" dirty="0"/>
              <a:t>B</a:t>
            </a:r>
          </a:p>
        </p:txBody>
      </p:sp>
      <p:sp>
        <p:nvSpPr>
          <p:cNvPr id="20" name="TextBox 19">
            <a:extLst>
              <a:ext uri="{FF2B5EF4-FFF2-40B4-BE49-F238E27FC236}">
                <a16:creationId xmlns:a16="http://schemas.microsoft.com/office/drawing/2014/main" id="{F254539C-60B9-71C2-4677-C41965D90AE1}"/>
              </a:ext>
            </a:extLst>
          </p:cNvPr>
          <p:cNvSpPr txBox="1"/>
          <p:nvPr/>
        </p:nvSpPr>
        <p:spPr>
          <a:xfrm>
            <a:off x="4149692" y="3536837"/>
            <a:ext cx="558616" cy="646331"/>
          </a:xfrm>
          <a:prstGeom prst="rect">
            <a:avLst/>
          </a:prstGeom>
          <a:noFill/>
        </p:spPr>
        <p:txBody>
          <a:bodyPr wrap="square" rtlCol="0">
            <a:spAutoFit/>
          </a:bodyPr>
          <a:lstStyle/>
          <a:p>
            <a:r>
              <a:rPr lang="en-JP" sz="3600" dirty="0"/>
              <a:t>D</a:t>
            </a:r>
          </a:p>
        </p:txBody>
      </p:sp>
      <p:sp>
        <p:nvSpPr>
          <p:cNvPr id="21" name="TextBox 20">
            <a:extLst>
              <a:ext uri="{FF2B5EF4-FFF2-40B4-BE49-F238E27FC236}">
                <a16:creationId xmlns:a16="http://schemas.microsoft.com/office/drawing/2014/main" id="{F0F0068D-EE57-5D0F-D1B9-F059BA7D447F}"/>
              </a:ext>
            </a:extLst>
          </p:cNvPr>
          <p:cNvSpPr txBox="1"/>
          <p:nvPr/>
        </p:nvSpPr>
        <p:spPr>
          <a:xfrm>
            <a:off x="956989" y="3557880"/>
            <a:ext cx="558617" cy="646331"/>
          </a:xfrm>
          <a:prstGeom prst="rect">
            <a:avLst/>
          </a:prstGeom>
          <a:noFill/>
        </p:spPr>
        <p:txBody>
          <a:bodyPr wrap="square" rtlCol="0">
            <a:spAutoFit/>
          </a:bodyPr>
          <a:lstStyle/>
          <a:p>
            <a:r>
              <a:rPr lang="en-JP" sz="3600" dirty="0"/>
              <a:t>C</a:t>
            </a:r>
          </a:p>
        </p:txBody>
      </p:sp>
      <p:pic>
        <p:nvPicPr>
          <p:cNvPr id="22" name="Picture 21">
            <a:extLst>
              <a:ext uri="{FF2B5EF4-FFF2-40B4-BE49-F238E27FC236}">
                <a16:creationId xmlns:a16="http://schemas.microsoft.com/office/drawing/2014/main" id="{5B7D5693-493D-708B-4FBB-9E32CFE43831}"/>
              </a:ext>
            </a:extLst>
          </p:cNvPr>
          <p:cNvPicPr>
            <a:picLocks noChangeAspect="1"/>
          </p:cNvPicPr>
          <p:nvPr/>
        </p:nvPicPr>
        <p:blipFill>
          <a:blip r:embed="rId7"/>
          <a:srcRect l="9905" r="1157" b="3114"/>
          <a:stretch/>
        </p:blipFill>
        <p:spPr>
          <a:xfrm>
            <a:off x="7403196" y="4108626"/>
            <a:ext cx="2646340" cy="2307309"/>
          </a:xfrm>
          <a:prstGeom prst="rect">
            <a:avLst/>
          </a:prstGeom>
        </p:spPr>
      </p:pic>
      <p:sp>
        <p:nvSpPr>
          <p:cNvPr id="23" name="Content Placeholder 2">
            <a:extLst>
              <a:ext uri="{FF2B5EF4-FFF2-40B4-BE49-F238E27FC236}">
                <a16:creationId xmlns:a16="http://schemas.microsoft.com/office/drawing/2014/main" id="{803F110B-83D6-093B-3569-4499CB7EAF59}"/>
              </a:ext>
            </a:extLst>
          </p:cNvPr>
          <p:cNvSpPr txBox="1">
            <a:spLocks/>
          </p:cNvSpPr>
          <p:nvPr/>
        </p:nvSpPr>
        <p:spPr>
          <a:xfrm>
            <a:off x="7404040" y="6397677"/>
            <a:ext cx="2645496" cy="713587"/>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900" dirty="0"/>
              <a:t>Hydrophobicity</a:t>
            </a:r>
            <a:endParaRPr lang="en-JP" sz="1900" dirty="0"/>
          </a:p>
        </p:txBody>
      </p:sp>
    </p:spTree>
    <p:extLst>
      <p:ext uri="{BB962C8B-B14F-4D97-AF65-F5344CB8AC3E}">
        <p14:creationId xmlns:p14="http://schemas.microsoft.com/office/powerpoint/2010/main" val="2104450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D9318-DC56-0146-5A92-B1FC7DB96FC0}"/>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6164EE8B-42B9-F7E8-039E-5E8B38BE9EA2}"/>
              </a:ext>
            </a:extLst>
          </p:cNvPr>
          <p:cNvSpPr/>
          <p:nvPr/>
        </p:nvSpPr>
        <p:spPr>
          <a:xfrm>
            <a:off x="1568580" y="1227425"/>
            <a:ext cx="3066103" cy="54447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ln w="76200">
                <a:solidFill>
                  <a:schemeClr val="tx1"/>
                </a:solidFill>
              </a:ln>
              <a:noFill/>
            </a:endParaRPr>
          </a:p>
        </p:txBody>
      </p:sp>
      <p:sp>
        <p:nvSpPr>
          <p:cNvPr id="17" name="Rectangle 16">
            <a:extLst>
              <a:ext uri="{FF2B5EF4-FFF2-40B4-BE49-F238E27FC236}">
                <a16:creationId xmlns:a16="http://schemas.microsoft.com/office/drawing/2014/main" id="{74F5AE0D-64FF-6045-3E42-B8442AFBEEC1}"/>
              </a:ext>
            </a:extLst>
          </p:cNvPr>
          <p:cNvSpPr/>
          <p:nvPr/>
        </p:nvSpPr>
        <p:spPr>
          <a:xfrm>
            <a:off x="4700727" y="1227426"/>
            <a:ext cx="2726469" cy="5450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ln w="76200">
                <a:solidFill>
                  <a:schemeClr val="tx1"/>
                </a:solidFill>
              </a:ln>
              <a:noFill/>
            </a:endParaRPr>
          </a:p>
        </p:txBody>
      </p:sp>
      <p:sp>
        <p:nvSpPr>
          <p:cNvPr id="18" name="Rectangle 17">
            <a:extLst>
              <a:ext uri="{FF2B5EF4-FFF2-40B4-BE49-F238E27FC236}">
                <a16:creationId xmlns:a16="http://schemas.microsoft.com/office/drawing/2014/main" id="{75AA9C36-02FE-1309-FCE9-096EA752B33A}"/>
              </a:ext>
            </a:extLst>
          </p:cNvPr>
          <p:cNvSpPr/>
          <p:nvPr/>
        </p:nvSpPr>
        <p:spPr>
          <a:xfrm>
            <a:off x="7543800" y="1227426"/>
            <a:ext cx="3223142" cy="5450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ln w="76200">
                <a:solidFill>
                  <a:schemeClr val="tx1"/>
                </a:solidFill>
              </a:ln>
              <a:noFill/>
            </a:endParaRPr>
          </a:p>
        </p:txBody>
      </p:sp>
      <p:pic>
        <p:nvPicPr>
          <p:cNvPr id="21" name="Content Placeholder 3">
            <a:extLst>
              <a:ext uri="{FF2B5EF4-FFF2-40B4-BE49-F238E27FC236}">
                <a16:creationId xmlns:a16="http://schemas.microsoft.com/office/drawing/2014/main" id="{262C3B4F-0336-EA29-75B5-3B21648DA7E3}"/>
              </a:ext>
            </a:extLst>
          </p:cNvPr>
          <p:cNvPicPr>
            <a:picLocks noGrp="1" noChangeAspect="1"/>
          </p:cNvPicPr>
          <p:nvPr>
            <p:ph idx="1"/>
          </p:nvPr>
        </p:nvPicPr>
        <p:blipFill>
          <a:blip r:embed="rId3"/>
          <a:srcRect l="17147" t="11771" r="34451" b="31680"/>
          <a:stretch/>
        </p:blipFill>
        <p:spPr>
          <a:xfrm>
            <a:off x="1917476" y="1885131"/>
            <a:ext cx="2368309" cy="2105418"/>
          </a:xfrm>
          <a:prstGeom prst="rect">
            <a:avLst/>
          </a:prstGeom>
        </p:spPr>
      </p:pic>
      <p:pic>
        <p:nvPicPr>
          <p:cNvPr id="26" name="Picture 25">
            <a:extLst>
              <a:ext uri="{FF2B5EF4-FFF2-40B4-BE49-F238E27FC236}">
                <a16:creationId xmlns:a16="http://schemas.microsoft.com/office/drawing/2014/main" id="{7664EA85-B600-1A76-BEEA-49F1839F20B6}"/>
              </a:ext>
            </a:extLst>
          </p:cNvPr>
          <p:cNvPicPr>
            <a:picLocks noChangeAspect="1"/>
          </p:cNvPicPr>
          <p:nvPr/>
        </p:nvPicPr>
        <p:blipFill>
          <a:blip r:embed="rId4"/>
          <a:srcRect l="9627" t="11810" r="16344" b="12278"/>
          <a:stretch/>
        </p:blipFill>
        <p:spPr>
          <a:xfrm>
            <a:off x="1921107" y="4394913"/>
            <a:ext cx="2411418" cy="1881579"/>
          </a:xfrm>
          <a:prstGeom prst="rect">
            <a:avLst/>
          </a:prstGeom>
        </p:spPr>
      </p:pic>
      <p:pic>
        <p:nvPicPr>
          <p:cNvPr id="27" name="Content Placeholder 3">
            <a:extLst>
              <a:ext uri="{FF2B5EF4-FFF2-40B4-BE49-F238E27FC236}">
                <a16:creationId xmlns:a16="http://schemas.microsoft.com/office/drawing/2014/main" id="{FE515C3C-C5E3-83B6-E48C-8EF63BD6EB84}"/>
              </a:ext>
            </a:extLst>
          </p:cNvPr>
          <p:cNvPicPr>
            <a:picLocks noChangeAspect="1"/>
          </p:cNvPicPr>
          <p:nvPr/>
        </p:nvPicPr>
        <p:blipFill>
          <a:blip r:embed="rId5"/>
          <a:srcRect l="32114" r="11467" b="18434"/>
          <a:stretch/>
        </p:blipFill>
        <p:spPr>
          <a:xfrm>
            <a:off x="5108829" y="1881798"/>
            <a:ext cx="1870920" cy="2112084"/>
          </a:xfrm>
          <a:prstGeom prst="rect">
            <a:avLst/>
          </a:prstGeom>
        </p:spPr>
      </p:pic>
      <p:pic>
        <p:nvPicPr>
          <p:cNvPr id="28" name="Picture 27">
            <a:extLst>
              <a:ext uri="{FF2B5EF4-FFF2-40B4-BE49-F238E27FC236}">
                <a16:creationId xmlns:a16="http://schemas.microsoft.com/office/drawing/2014/main" id="{427A4ED2-C8AC-CE4F-50B2-80F7E3E4258A}"/>
              </a:ext>
            </a:extLst>
          </p:cNvPr>
          <p:cNvPicPr>
            <a:picLocks noChangeAspect="1"/>
          </p:cNvPicPr>
          <p:nvPr/>
        </p:nvPicPr>
        <p:blipFill>
          <a:blip r:embed="rId6"/>
          <a:srcRect l="30188" r="15850" b="17571"/>
          <a:stretch/>
        </p:blipFill>
        <p:spPr>
          <a:xfrm>
            <a:off x="5108829" y="4219896"/>
            <a:ext cx="1870919" cy="2231615"/>
          </a:xfrm>
          <a:prstGeom prst="rect">
            <a:avLst/>
          </a:prstGeom>
        </p:spPr>
      </p:pic>
      <p:pic>
        <p:nvPicPr>
          <p:cNvPr id="29" name="Content Placeholder 3">
            <a:extLst>
              <a:ext uri="{FF2B5EF4-FFF2-40B4-BE49-F238E27FC236}">
                <a16:creationId xmlns:a16="http://schemas.microsoft.com/office/drawing/2014/main" id="{2504E447-A346-4756-8790-C2F52B8E07DD}"/>
              </a:ext>
            </a:extLst>
          </p:cNvPr>
          <p:cNvPicPr>
            <a:picLocks noChangeAspect="1"/>
          </p:cNvPicPr>
          <p:nvPr/>
        </p:nvPicPr>
        <p:blipFill>
          <a:blip r:embed="rId7"/>
          <a:srcRect l="20917" t="16180" r="20059" b="21188"/>
          <a:stretch/>
        </p:blipFill>
        <p:spPr>
          <a:xfrm>
            <a:off x="7932609" y="1881798"/>
            <a:ext cx="2437100" cy="2019325"/>
          </a:xfrm>
          <a:prstGeom prst="rect">
            <a:avLst/>
          </a:prstGeom>
        </p:spPr>
      </p:pic>
      <p:pic>
        <p:nvPicPr>
          <p:cNvPr id="30" name="Picture 29">
            <a:extLst>
              <a:ext uri="{FF2B5EF4-FFF2-40B4-BE49-F238E27FC236}">
                <a16:creationId xmlns:a16="http://schemas.microsoft.com/office/drawing/2014/main" id="{C26D505D-E24C-C0AD-EC7E-B11FAB6B6D8A}"/>
              </a:ext>
            </a:extLst>
          </p:cNvPr>
          <p:cNvPicPr>
            <a:picLocks noChangeAspect="1"/>
          </p:cNvPicPr>
          <p:nvPr/>
        </p:nvPicPr>
        <p:blipFill>
          <a:blip r:embed="rId8"/>
          <a:srcRect l="11239" r="21158" b="13182"/>
          <a:stretch/>
        </p:blipFill>
        <p:spPr>
          <a:xfrm>
            <a:off x="7932608" y="4045474"/>
            <a:ext cx="2395285" cy="2401999"/>
          </a:xfrm>
          <a:prstGeom prst="rect">
            <a:avLst/>
          </a:prstGeom>
        </p:spPr>
      </p:pic>
      <p:sp>
        <p:nvSpPr>
          <p:cNvPr id="8" name="TextBox 7">
            <a:extLst>
              <a:ext uri="{FF2B5EF4-FFF2-40B4-BE49-F238E27FC236}">
                <a16:creationId xmlns:a16="http://schemas.microsoft.com/office/drawing/2014/main" id="{4FA90C87-4D51-48EE-C4FE-B3981DDFAC3B}"/>
              </a:ext>
            </a:extLst>
          </p:cNvPr>
          <p:cNvSpPr txBox="1"/>
          <p:nvPr/>
        </p:nvSpPr>
        <p:spPr>
          <a:xfrm>
            <a:off x="1638168" y="1227423"/>
            <a:ext cx="558616" cy="646331"/>
          </a:xfrm>
          <a:prstGeom prst="rect">
            <a:avLst/>
          </a:prstGeom>
          <a:noFill/>
        </p:spPr>
        <p:txBody>
          <a:bodyPr wrap="square" rtlCol="0">
            <a:spAutoFit/>
          </a:bodyPr>
          <a:lstStyle/>
          <a:p>
            <a:r>
              <a:rPr lang="en-JP" sz="3600" dirty="0"/>
              <a:t>A</a:t>
            </a:r>
          </a:p>
        </p:txBody>
      </p:sp>
      <p:sp>
        <p:nvSpPr>
          <p:cNvPr id="9" name="TextBox 8">
            <a:extLst>
              <a:ext uri="{FF2B5EF4-FFF2-40B4-BE49-F238E27FC236}">
                <a16:creationId xmlns:a16="http://schemas.microsoft.com/office/drawing/2014/main" id="{343C8408-BFF1-875B-D9B2-EB8312BC486B}"/>
              </a:ext>
            </a:extLst>
          </p:cNvPr>
          <p:cNvSpPr txBox="1"/>
          <p:nvPr/>
        </p:nvSpPr>
        <p:spPr>
          <a:xfrm>
            <a:off x="4751287" y="1227424"/>
            <a:ext cx="558617" cy="646331"/>
          </a:xfrm>
          <a:prstGeom prst="rect">
            <a:avLst/>
          </a:prstGeom>
          <a:noFill/>
        </p:spPr>
        <p:txBody>
          <a:bodyPr wrap="square" rtlCol="0">
            <a:spAutoFit/>
          </a:bodyPr>
          <a:lstStyle/>
          <a:p>
            <a:r>
              <a:rPr lang="en-JP" sz="3600" dirty="0"/>
              <a:t>B</a:t>
            </a:r>
          </a:p>
        </p:txBody>
      </p:sp>
      <p:sp>
        <p:nvSpPr>
          <p:cNvPr id="10" name="TextBox 9">
            <a:extLst>
              <a:ext uri="{FF2B5EF4-FFF2-40B4-BE49-F238E27FC236}">
                <a16:creationId xmlns:a16="http://schemas.microsoft.com/office/drawing/2014/main" id="{19BBACA1-6C0A-4C46-24AE-5C259A58116B}"/>
              </a:ext>
            </a:extLst>
          </p:cNvPr>
          <p:cNvSpPr txBox="1"/>
          <p:nvPr/>
        </p:nvSpPr>
        <p:spPr>
          <a:xfrm>
            <a:off x="7613724" y="1227423"/>
            <a:ext cx="558616" cy="646331"/>
          </a:xfrm>
          <a:prstGeom prst="rect">
            <a:avLst/>
          </a:prstGeom>
          <a:noFill/>
        </p:spPr>
        <p:txBody>
          <a:bodyPr wrap="square" rtlCol="0">
            <a:spAutoFit/>
          </a:bodyPr>
          <a:lstStyle/>
          <a:p>
            <a:r>
              <a:rPr lang="en-JP" sz="3600" dirty="0"/>
              <a:t>C</a:t>
            </a:r>
          </a:p>
        </p:txBody>
      </p:sp>
    </p:spTree>
    <p:extLst>
      <p:ext uri="{BB962C8B-B14F-4D97-AF65-F5344CB8AC3E}">
        <p14:creationId xmlns:p14="http://schemas.microsoft.com/office/powerpoint/2010/main" val="1318214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0151-C147-8EC2-BCAD-F2B9E63BAB7E}"/>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96C3499-B4C5-AB08-AE78-C6C4E9C20BE6}"/>
              </a:ext>
            </a:extLst>
          </p:cNvPr>
          <p:cNvSpPr txBox="1">
            <a:spLocks/>
          </p:cNvSpPr>
          <p:nvPr/>
        </p:nvSpPr>
        <p:spPr>
          <a:xfrm>
            <a:off x="2130439" y="3696769"/>
            <a:ext cx="3066103" cy="3943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H-bond acceptors</a:t>
            </a:r>
            <a:endParaRPr lang="en-JP" dirty="0"/>
          </a:p>
        </p:txBody>
      </p:sp>
      <p:sp>
        <p:nvSpPr>
          <p:cNvPr id="6" name="Content Placeholder 2">
            <a:extLst>
              <a:ext uri="{FF2B5EF4-FFF2-40B4-BE49-F238E27FC236}">
                <a16:creationId xmlns:a16="http://schemas.microsoft.com/office/drawing/2014/main" id="{F8E31EA6-6BA7-543F-A0B8-6AE03A83AE53}"/>
              </a:ext>
            </a:extLst>
          </p:cNvPr>
          <p:cNvSpPr txBox="1">
            <a:spLocks/>
          </p:cNvSpPr>
          <p:nvPr/>
        </p:nvSpPr>
        <p:spPr>
          <a:xfrm>
            <a:off x="5126174" y="3800280"/>
            <a:ext cx="3066103" cy="37192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H-bond acceptors</a:t>
            </a:r>
            <a:endParaRPr lang="en-JP" dirty="0"/>
          </a:p>
        </p:txBody>
      </p:sp>
      <p:sp>
        <p:nvSpPr>
          <p:cNvPr id="7" name="Content Placeholder 2">
            <a:extLst>
              <a:ext uri="{FF2B5EF4-FFF2-40B4-BE49-F238E27FC236}">
                <a16:creationId xmlns:a16="http://schemas.microsoft.com/office/drawing/2014/main" id="{3A60883D-8DF7-2319-11C5-8BDA5E57A42C}"/>
              </a:ext>
            </a:extLst>
          </p:cNvPr>
          <p:cNvSpPr txBox="1">
            <a:spLocks/>
          </p:cNvSpPr>
          <p:nvPr/>
        </p:nvSpPr>
        <p:spPr>
          <a:xfrm>
            <a:off x="5278341" y="6174566"/>
            <a:ext cx="2726469" cy="3943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H-bond donors</a:t>
            </a:r>
            <a:endParaRPr lang="en-JP" dirty="0"/>
          </a:p>
        </p:txBody>
      </p:sp>
      <p:sp>
        <p:nvSpPr>
          <p:cNvPr id="11" name="Content Placeholder 2">
            <a:extLst>
              <a:ext uri="{FF2B5EF4-FFF2-40B4-BE49-F238E27FC236}">
                <a16:creationId xmlns:a16="http://schemas.microsoft.com/office/drawing/2014/main" id="{745572C3-75CB-CAA5-1EF3-420710F7CB05}"/>
              </a:ext>
            </a:extLst>
          </p:cNvPr>
          <p:cNvSpPr txBox="1">
            <a:spLocks/>
          </p:cNvSpPr>
          <p:nvPr/>
        </p:nvSpPr>
        <p:spPr>
          <a:xfrm>
            <a:off x="8601395" y="3860200"/>
            <a:ext cx="1370870" cy="35551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Stacking</a:t>
            </a:r>
            <a:endParaRPr lang="en-JP" dirty="0"/>
          </a:p>
        </p:txBody>
      </p:sp>
      <p:sp>
        <p:nvSpPr>
          <p:cNvPr id="13" name="Content Placeholder 2">
            <a:extLst>
              <a:ext uri="{FF2B5EF4-FFF2-40B4-BE49-F238E27FC236}">
                <a16:creationId xmlns:a16="http://schemas.microsoft.com/office/drawing/2014/main" id="{EB3259D3-499A-0EC1-A4A2-A46367CFAA05}"/>
              </a:ext>
            </a:extLst>
          </p:cNvPr>
          <p:cNvSpPr txBox="1">
            <a:spLocks/>
          </p:cNvSpPr>
          <p:nvPr/>
        </p:nvSpPr>
        <p:spPr>
          <a:xfrm>
            <a:off x="8263675" y="6172926"/>
            <a:ext cx="2726469" cy="3943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Hydrophobicity</a:t>
            </a:r>
            <a:endParaRPr lang="en-JP" dirty="0"/>
          </a:p>
        </p:txBody>
      </p:sp>
      <p:sp>
        <p:nvSpPr>
          <p:cNvPr id="16" name="Rectangle 15">
            <a:extLst>
              <a:ext uri="{FF2B5EF4-FFF2-40B4-BE49-F238E27FC236}">
                <a16:creationId xmlns:a16="http://schemas.microsoft.com/office/drawing/2014/main" id="{15BF8764-2422-6D84-7297-47FCA9C6E0D5}"/>
              </a:ext>
            </a:extLst>
          </p:cNvPr>
          <p:cNvSpPr/>
          <p:nvPr/>
        </p:nvSpPr>
        <p:spPr>
          <a:xfrm>
            <a:off x="1554037" y="1183883"/>
            <a:ext cx="3066103" cy="54447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ln w="76200">
                <a:solidFill>
                  <a:schemeClr val="tx1"/>
                </a:solidFill>
              </a:ln>
              <a:noFill/>
            </a:endParaRPr>
          </a:p>
        </p:txBody>
      </p:sp>
      <p:sp>
        <p:nvSpPr>
          <p:cNvPr id="17" name="Rectangle 16">
            <a:extLst>
              <a:ext uri="{FF2B5EF4-FFF2-40B4-BE49-F238E27FC236}">
                <a16:creationId xmlns:a16="http://schemas.microsoft.com/office/drawing/2014/main" id="{A9E85755-B56D-4D05-2797-966A665592EC}"/>
              </a:ext>
            </a:extLst>
          </p:cNvPr>
          <p:cNvSpPr/>
          <p:nvPr/>
        </p:nvSpPr>
        <p:spPr>
          <a:xfrm>
            <a:off x="4686184" y="1183884"/>
            <a:ext cx="2726469" cy="5450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ln w="76200">
                <a:solidFill>
                  <a:schemeClr val="tx1"/>
                </a:solidFill>
              </a:ln>
              <a:noFill/>
            </a:endParaRPr>
          </a:p>
        </p:txBody>
      </p:sp>
      <p:sp>
        <p:nvSpPr>
          <p:cNvPr id="18" name="Rectangle 17">
            <a:extLst>
              <a:ext uri="{FF2B5EF4-FFF2-40B4-BE49-F238E27FC236}">
                <a16:creationId xmlns:a16="http://schemas.microsoft.com/office/drawing/2014/main" id="{74364589-3490-90EA-B561-57C6AE05FE47}"/>
              </a:ext>
            </a:extLst>
          </p:cNvPr>
          <p:cNvSpPr/>
          <p:nvPr/>
        </p:nvSpPr>
        <p:spPr>
          <a:xfrm>
            <a:off x="7529257" y="1183884"/>
            <a:ext cx="3223142" cy="5450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ln w="76200">
                <a:solidFill>
                  <a:schemeClr val="tx1"/>
                </a:solidFill>
              </a:ln>
              <a:noFill/>
            </a:endParaRPr>
          </a:p>
        </p:txBody>
      </p:sp>
      <p:pic>
        <p:nvPicPr>
          <p:cNvPr id="41" name="Content Placeholder 3">
            <a:extLst>
              <a:ext uri="{FF2B5EF4-FFF2-40B4-BE49-F238E27FC236}">
                <a16:creationId xmlns:a16="http://schemas.microsoft.com/office/drawing/2014/main" id="{475A644B-0DC2-6AFE-608E-5B96C3E5C00A}"/>
              </a:ext>
            </a:extLst>
          </p:cNvPr>
          <p:cNvPicPr>
            <a:picLocks noChangeAspect="1"/>
          </p:cNvPicPr>
          <p:nvPr/>
        </p:nvPicPr>
        <p:blipFill>
          <a:blip r:embed="rId3"/>
          <a:srcRect l="15008" t="10433" r="15074" b="23224"/>
          <a:stretch/>
        </p:blipFill>
        <p:spPr>
          <a:xfrm>
            <a:off x="1984158" y="2003894"/>
            <a:ext cx="2220985" cy="1767681"/>
          </a:xfrm>
          <a:prstGeom prst="rect">
            <a:avLst/>
          </a:prstGeom>
        </p:spPr>
      </p:pic>
      <p:pic>
        <p:nvPicPr>
          <p:cNvPr id="44" name="Picture 43">
            <a:extLst>
              <a:ext uri="{FF2B5EF4-FFF2-40B4-BE49-F238E27FC236}">
                <a16:creationId xmlns:a16="http://schemas.microsoft.com/office/drawing/2014/main" id="{9407F41E-D3C6-7842-7D6E-51FF3DBB9C13}"/>
              </a:ext>
            </a:extLst>
          </p:cNvPr>
          <p:cNvPicPr>
            <a:picLocks noChangeAspect="1"/>
          </p:cNvPicPr>
          <p:nvPr/>
        </p:nvPicPr>
        <p:blipFill>
          <a:blip r:embed="rId4"/>
          <a:srcRect l="13631" t="12292" r="16516" b="6615"/>
          <a:stretch/>
        </p:blipFill>
        <p:spPr>
          <a:xfrm>
            <a:off x="2079595" y="4228691"/>
            <a:ext cx="2059646" cy="2005603"/>
          </a:xfrm>
          <a:prstGeom prst="rect">
            <a:avLst/>
          </a:prstGeom>
        </p:spPr>
      </p:pic>
      <p:sp>
        <p:nvSpPr>
          <p:cNvPr id="45" name="Content Placeholder 2">
            <a:extLst>
              <a:ext uri="{FF2B5EF4-FFF2-40B4-BE49-F238E27FC236}">
                <a16:creationId xmlns:a16="http://schemas.microsoft.com/office/drawing/2014/main" id="{ADF58858-0385-B2EE-3A1E-BF9A73BA988F}"/>
              </a:ext>
            </a:extLst>
          </p:cNvPr>
          <p:cNvSpPr txBox="1">
            <a:spLocks/>
          </p:cNvSpPr>
          <p:nvPr/>
        </p:nvSpPr>
        <p:spPr>
          <a:xfrm>
            <a:off x="2244385" y="6209654"/>
            <a:ext cx="2726469" cy="3943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8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H-bond donors</a:t>
            </a:r>
            <a:endParaRPr lang="en-JP" dirty="0"/>
          </a:p>
        </p:txBody>
      </p:sp>
      <p:pic>
        <p:nvPicPr>
          <p:cNvPr id="47" name="Picture 46">
            <a:extLst>
              <a:ext uri="{FF2B5EF4-FFF2-40B4-BE49-F238E27FC236}">
                <a16:creationId xmlns:a16="http://schemas.microsoft.com/office/drawing/2014/main" id="{911213EB-2EF7-499A-CD71-CF3EB719EF22}"/>
              </a:ext>
            </a:extLst>
          </p:cNvPr>
          <p:cNvPicPr>
            <a:picLocks noChangeAspect="1"/>
          </p:cNvPicPr>
          <p:nvPr/>
        </p:nvPicPr>
        <p:blipFill>
          <a:blip r:embed="rId5"/>
          <a:srcRect l="8143" r="7798" b="43340"/>
          <a:stretch/>
        </p:blipFill>
        <p:spPr>
          <a:xfrm>
            <a:off x="5081155" y="1910556"/>
            <a:ext cx="1914305" cy="1914390"/>
          </a:xfrm>
          <a:prstGeom prst="rect">
            <a:avLst/>
          </a:prstGeom>
        </p:spPr>
      </p:pic>
      <p:pic>
        <p:nvPicPr>
          <p:cNvPr id="48" name="Picture 47">
            <a:extLst>
              <a:ext uri="{FF2B5EF4-FFF2-40B4-BE49-F238E27FC236}">
                <a16:creationId xmlns:a16="http://schemas.microsoft.com/office/drawing/2014/main" id="{CD487635-8F52-3E4C-5F1E-4B1A85957B40}"/>
              </a:ext>
            </a:extLst>
          </p:cNvPr>
          <p:cNvPicPr>
            <a:picLocks noChangeAspect="1"/>
          </p:cNvPicPr>
          <p:nvPr/>
        </p:nvPicPr>
        <p:blipFill>
          <a:blip r:embed="rId6"/>
          <a:srcRect l="5034" r="10589" b="44377"/>
          <a:stretch/>
        </p:blipFill>
        <p:spPr>
          <a:xfrm>
            <a:off x="5072806" y="4238242"/>
            <a:ext cx="1998289" cy="1954413"/>
          </a:xfrm>
          <a:prstGeom prst="rect">
            <a:avLst/>
          </a:prstGeom>
        </p:spPr>
      </p:pic>
      <p:pic>
        <p:nvPicPr>
          <p:cNvPr id="49" name="Content Placeholder 3">
            <a:extLst>
              <a:ext uri="{FF2B5EF4-FFF2-40B4-BE49-F238E27FC236}">
                <a16:creationId xmlns:a16="http://schemas.microsoft.com/office/drawing/2014/main" id="{7FBB820D-1909-D0EA-C65D-078A852B51CF}"/>
              </a:ext>
            </a:extLst>
          </p:cNvPr>
          <p:cNvPicPr>
            <a:picLocks noGrp="1" noChangeAspect="1"/>
          </p:cNvPicPr>
          <p:nvPr>
            <p:ph idx="1"/>
          </p:nvPr>
        </p:nvPicPr>
        <p:blipFill>
          <a:blip r:embed="rId7"/>
          <a:srcRect l="14411" t="18689" r="9158" b="22693"/>
          <a:stretch/>
        </p:blipFill>
        <p:spPr>
          <a:xfrm>
            <a:off x="7875878" y="1905002"/>
            <a:ext cx="2595081" cy="1955198"/>
          </a:xfrm>
          <a:prstGeom prst="rect">
            <a:avLst/>
          </a:prstGeom>
        </p:spPr>
      </p:pic>
      <p:pic>
        <p:nvPicPr>
          <p:cNvPr id="50" name="Picture 49">
            <a:extLst>
              <a:ext uri="{FF2B5EF4-FFF2-40B4-BE49-F238E27FC236}">
                <a16:creationId xmlns:a16="http://schemas.microsoft.com/office/drawing/2014/main" id="{F33A9B05-B586-C723-4F82-76FECB7C9E1B}"/>
              </a:ext>
            </a:extLst>
          </p:cNvPr>
          <p:cNvPicPr>
            <a:picLocks noChangeAspect="1"/>
          </p:cNvPicPr>
          <p:nvPr/>
        </p:nvPicPr>
        <p:blipFill>
          <a:blip r:embed="rId8"/>
          <a:srcRect l="15912" t="10859" r="15911" b="22663"/>
          <a:stretch/>
        </p:blipFill>
        <p:spPr>
          <a:xfrm>
            <a:off x="8121414" y="4238242"/>
            <a:ext cx="2036743" cy="1950989"/>
          </a:xfrm>
          <a:prstGeom prst="rect">
            <a:avLst/>
          </a:prstGeom>
        </p:spPr>
      </p:pic>
      <p:sp>
        <p:nvSpPr>
          <p:cNvPr id="8" name="TextBox 7">
            <a:extLst>
              <a:ext uri="{FF2B5EF4-FFF2-40B4-BE49-F238E27FC236}">
                <a16:creationId xmlns:a16="http://schemas.microsoft.com/office/drawing/2014/main" id="{E7A1589A-E43B-27EA-2B61-8394FF8D8A1B}"/>
              </a:ext>
            </a:extLst>
          </p:cNvPr>
          <p:cNvSpPr txBox="1"/>
          <p:nvPr/>
        </p:nvSpPr>
        <p:spPr>
          <a:xfrm>
            <a:off x="1608717" y="1183883"/>
            <a:ext cx="558616" cy="646331"/>
          </a:xfrm>
          <a:prstGeom prst="rect">
            <a:avLst/>
          </a:prstGeom>
          <a:noFill/>
        </p:spPr>
        <p:txBody>
          <a:bodyPr wrap="square" rtlCol="0">
            <a:spAutoFit/>
          </a:bodyPr>
          <a:lstStyle/>
          <a:p>
            <a:r>
              <a:rPr lang="en-JP" sz="3600" dirty="0"/>
              <a:t>A</a:t>
            </a:r>
          </a:p>
        </p:txBody>
      </p:sp>
      <p:sp>
        <p:nvSpPr>
          <p:cNvPr id="9" name="TextBox 8">
            <a:extLst>
              <a:ext uri="{FF2B5EF4-FFF2-40B4-BE49-F238E27FC236}">
                <a16:creationId xmlns:a16="http://schemas.microsoft.com/office/drawing/2014/main" id="{9086B46A-3EED-F64F-058B-33E6A8D8EB92}"/>
              </a:ext>
            </a:extLst>
          </p:cNvPr>
          <p:cNvSpPr txBox="1"/>
          <p:nvPr/>
        </p:nvSpPr>
        <p:spPr>
          <a:xfrm>
            <a:off x="4691545" y="1183141"/>
            <a:ext cx="558617" cy="646331"/>
          </a:xfrm>
          <a:prstGeom prst="rect">
            <a:avLst/>
          </a:prstGeom>
          <a:noFill/>
        </p:spPr>
        <p:txBody>
          <a:bodyPr wrap="square" rtlCol="0">
            <a:spAutoFit/>
          </a:bodyPr>
          <a:lstStyle/>
          <a:p>
            <a:r>
              <a:rPr lang="en-JP" sz="3600" dirty="0"/>
              <a:t>B</a:t>
            </a:r>
          </a:p>
        </p:txBody>
      </p:sp>
      <p:sp>
        <p:nvSpPr>
          <p:cNvPr id="10" name="TextBox 9">
            <a:extLst>
              <a:ext uri="{FF2B5EF4-FFF2-40B4-BE49-F238E27FC236}">
                <a16:creationId xmlns:a16="http://schemas.microsoft.com/office/drawing/2014/main" id="{A94E556B-0F64-D00B-7638-C79EA9FCD006}"/>
              </a:ext>
            </a:extLst>
          </p:cNvPr>
          <p:cNvSpPr txBox="1"/>
          <p:nvPr/>
        </p:nvSpPr>
        <p:spPr>
          <a:xfrm>
            <a:off x="7529257" y="1183140"/>
            <a:ext cx="558616" cy="646331"/>
          </a:xfrm>
          <a:prstGeom prst="rect">
            <a:avLst/>
          </a:prstGeom>
          <a:noFill/>
        </p:spPr>
        <p:txBody>
          <a:bodyPr wrap="square" rtlCol="0">
            <a:spAutoFit/>
          </a:bodyPr>
          <a:lstStyle/>
          <a:p>
            <a:r>
              <a:rPr lang="en-JP" sz="3600" dirty="0"/>
              <a:t>C</a:t>
            </a:r>
          </a:p>
        </p:txBody>
      </p:sp>
    </p:spTree>
    <p:extLst>
      <p:ext uri="{BB962C8B-B14F-4D97-AF65-F5344CB8AC3E}">
        <p14:creationId xmlns:p14="http://schemas.microsoft.com/office/powerpoint/2010/main" val="897347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AB8D6BB-65DB-47D7-930B-BC5E70CEAC1A}"/>
              </a:ext>
            </a:extLst>
          </p:cNvPr>
          <p:cNvPicPr>
            <a:picLocks noGrp="1" noChangeAspect="1"/>
          </p:cNvPicPr>
          <p:nvPr>
            <p:ph idx="1"/>
          </p:nvPr>
        </p:nvPicPr>
        <p:blipFill>
          <a:blip r:embed="rId3"/>
          <a:srcRect l="5563" t="9020" b="10077"/>
          <a:stretch/>
        </p:blipFill>
        <p:spPr>
          <a:xfrm>
            <a:off x="2461564" y="1131719"/>
            <a:ext cx="3505366" cy="2344920"/>
          </a:xfrm>
          <a:prstGeom prst="rect">
            <a:avLst/>
          </a:prstGeom>
          <a:ln>
            <a:noFill/>
          </a:ln>
        </p:spPr>
      </p:pic>
      <p:pic>
        <p:nvPicPr>
          <p:cNvPr id="5" name="Picture 4">
            <a:extLst>
              <a:ext uri="{FF2B5EF4-FFF2-40B4-BE49-F238E27FC236}">
                <a16:creationId xmlns:a16="http://schemas.microsoft.com/office/drawing/2014/main" id="{D178E788-21D4-2838-D4C2-0EEA52730FC7}"/>
              </a:ext>
            </a:extLst>
          </p:cNvPr>
          <p:cNvPicPr>
            <a:picLocks noChangeAspect="1"/>
          </p:cNvPicPr>
          <p:nvPr/>
        </p:nvPicPr>
        <p:blipFill>
          <a:blip r:embed="rId4"/>
          <a:srcRect b="10406"/>
          <a:stretch/>
        </p:blipFill>
        <p:spPr>
          <a:xfrm>
            <a:off x="6100666" y="1138917"/>
            <a:ext cx="3397340" cy="2350482"/>
          </a:xfrm>
          <a:prstGeom prst="rect">
            <a:avLst/>
          </a:prstGeom>
          <a:ln>
            <a:noFill/>
          </a:ln>
        </p:spPr>
      </p:pic>
      <p:pic>
        <p:nvPicPr>
          <p:cNvPr id="6" name="Picture 5">
            <a:extLst>
              <a:ext uri="{FF2B5EF4-FFF2-40B4-BE49-F238E27FC236}">
                <a16:creationId xmlns:a16="http://schemas.microsoft.com/office/drawing/2014/main" id="{0D400FF5-88E8-3F85-C4FA-3C2680CCCFF0}"/>
              </a:ext>
            </a:extLst>
          </p:cNvPr>
          <p:cNvPicPr>
            <a:picLocks noChangeAspect="1"/>
          </p:cNvPicPr>
          <p:nvPr/>
        </p:nvPicPr>
        <p:blipFill>
          <a:blip r:embed="rId5"/>
          <a:srcRect l="4693" t="11654" r="4693" b="669"/>
          <a:stretch/>
        </p:blipFill>
        <p:spPr>
          <a:xfrm>
            <a:off x="2461564" y="3605022"/>
            <a:ext cx="3505366" cy="2648474"/>
          </a:xfrm>
          <a:prstGeom prst="rect">
            <a:avLst/>
          </a:prstGeom>
          <a:ln>
            <a:noFill/>
          </a:ln>
        </p:spPr>
      </p:pic>
      <p:pic>
        <p:nvPicPr>
          <p:cNvPr id="7" name="Picture 6">
            <a:extLst>
              <a:ext uri="{FF2B5EF4-FFF2-40B4-BE49-F238E27FC236}">
                <a16:creationId xmlns:a16="http://schemas.microsoft.com/office/drawing/2014/main" id="{D9818995-495B-F92E-3C3C-EF9E27C6FC93}"/>
              </a:ext>
            </a:extLst>
          </p:cNvPr>
          <p:cNvPicPr>
            <a:picLocks noChangeAspect="1"/>
          </p:cNvPicPr>
          <p:nvPr/>
        </p:nvPicPr>
        <p:blipFill>
          <a:blip r:embed="rId6"/>
          <a:srcRect l="5075" t="6188" r="5321" b="4598"/>
          <a:stretch/>
        </p:blipFill>
        <p:spPr>
          <a:xfrm>
            <a:off x="6096000" y="3612220"/>
            <a:ext cx="3397340" cy="2641276"/>
          </a:xfrm>
          <a:prstGeom prst="rect">
            <a:avLst/>
          </a:prstGeom>
          <a:ln>
            <a:noFill/>
          </a:ln>
        </p:spPr>
      </p:pic>
      <p:sp>
        <p:nvSpPr>
          <p:cNvPr id="16" name="Rectangle 15">
            <a:extLst>
              <a:ext uri="{FF2B5EF4-FFF2-40B4-BE49-F238E27FC236}">
                <a16:creationId xmlns:a16="http://schemas.microsoft.com/office/drawing/2014/main" id="{F248192D-1FBA-DCEE-58B6-25BEC2E05E5F}"/>
              </a:ext>
            </a:extLst>
          </p:cNvPr>
          <p:cNvSpPr/>
          <p:nvPr/>
        </p:nvSpPr>
        <p:spPr>
          <a:xfrm>
            <a:off x="2461564" y="1131719"/>
            <a:ext cx="558617" cy="581541"/>
          </a:xfrm>
          <a:prstGeom prst="rect">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3600" dirty="0">
                <a:solidFill>
                  <a:schemeClr val="tx1"/>
                </a:solidFill>
              </a:rPr>
              <a:t>A</a:t>
            </a:r>
          </a:p>
        </p:txBody>
      </p:sp>
      <p:sp>
        <p:nvSpPr>
          <p:cNvPr id="17" name="Rectangle 16">
            <a:extLst>
              <a:ext uri="{FF2B5EF4-FFF2-40B4-BE49-F238E27FC236}">
                <a16:creationId xmlns:a16="http://schemas.microsoft.com/office/drawing/2014/main" id="{A7EC7AEB-BAAB-5B5F-0C6C-E5336AD35549}"/>
              </a:ext>
            </a:extLst>
          </p:cNvPr>
          <p:cNvSpPr/>
          <p:nvPr/>
        </p:nvSpPr>
        <p:spPr>
          <a:xfrm>
            <a:off x="6096000" y="1131719"/>
            <a:ext cx="558617" cy="588739"/>
          </a:xfrm>
          <a:prstGeom prst="rect">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3600" dirty="0">
                <a:solidFill>
                  <a:schemeClr val="tx1"/>
                </a:solidFill>
              </a:rPr>
              <a:t>B</a:t>
            </a:r>
          </a:p>
        </p:txBody>
      </p:sp>
      <p:sp>
        <p:nvSpPr>
          <p:cNvPr id="18" name="Rectangle 17">
            <a:extLst>
              <a:ext uri="{FF2B5EF4-FFF2-40B4-BE49-F238E27FC236}">
                <a16:creationId xmlns:a16="http://schemas.microsoft.com/office/drawing/2014/main" id="{9E5913FA-08BF-81BD-CAF1-3574A6119A14}"/>
              </a:ext>
            </a:extLst>
          </p:cNvPr>
          <p:cNvSpPr/>
          <p:nvPr/>
        </p:nvSpPr>
        <p:spPr>
          <a:xfrm>
            <a:off x="2461564" y="3590626"/>
            <a:ext cx="558617" cy="588739"/>
          </a:xfrm>
          <a:prstGeom prst="rect">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3600" dirty="0">
                <a:solidFill>
                  <a:schemeClr val="tx1"/>
                </a:solidFill>
              </a:rPr>
              <a:t>C</a:t>
            </a:r>
          </a:p>
        </p:txBody>
      </p:sp>
      <p:sp>
        <p:nvSpPr>
          <p:cNvPr id="19" name="Rectangle 18">
            <a:extLst>
              <a:ext uri="{FF2B5EF4-FFF2-40B4-BE49-F238E27FC236}">
                <a16:creationId xmlns:a16="http://schemas.microsoft.com/office/drawing/2014/main" id="{AF055DE1-2DD5-AEE5-D158-2C3933319B70}"/>
              </a:ext>
            </a:extLst>
          </p:cNvPr>
          <p:cNvSpPr/>
          <p:nvPr/>
        </p:nvSpPr>
        <p:spPr>
          <a:xfrm>
            <a:off x="6096000" y="3597824"/>
            <a:ext cx="558617" cy="588739"/>
          </a:xfrm>
          <a:prstGeom prst="rect">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3600" dirty="0">
                <a:solidFill>
                  <a:schemeClr val="tx1"/>
                </a:solidFill>
              </a:rPr>
              <a:t>D</a:t>
            </a:r>
          </a:p>
        </p:txBody>
      </p:sp>
    </p:spTree>
    <p:extLst>
      <p:ext uri="{BB962C8B-B14F-4D97-AF65-F5344CB8AC3E}">
        <p14:creationId xmlns:p14="http://schemas.microsoft.com/office/powerpoint/2010/main" val="1802427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6F04BAC-0BEF-3B64-4F06-E9DAC94836F6}"/>
              </a:ext>
            </a:extLst>
          </p:cNvPr>
          <p:cNvPicPr>
            <a:picLocks noGrp="1" noChangeAspect="1"/>
          </p:cNvPicPr>
          <p:nvPr>
            <p:ph idx="1"/>
          </p:nvPr>
        </p:nvPicPr>
        <p:blipFill>
          <a:blip r:embed="rId3"/>
          <a:srcRect t="11270" b="54762"/>
          <a:stretch/>
        </p:blipFill>
        <p:spPr>
          <a:xfrm>
            <a:off x="287922" y="1641986"/>
            <a:ext cx="4052299" cy="2239838"/>
          </a:xfrm>
          <a:prstGeom prst="rect">
            <a:avLst/>
          </a:prstGeom>
        </p:spPr>
      </p:pic>
      <p:pic>
        <p:nvPicPr>
          <p:cNvPr id="6" name="Picture 5">
            <a:extLst>
              <a:ext uri="{FF2B5EF4-FFF2-40B4-BE49-F238E27FC236}">
                <a16:creationId xmlns:a16="http://schemas.microsoft.com/office/drawing/2014/main" id="{303BE065-C9A8-1DE3-B009-55EB0C5390AF}"/>
              </a:ext>
            </a:extLst>
          </p:cNvPr>
          <p:cNvPicPr>
            <a:picLocks noChangeAspect="1"/>
          </p:cNvPicPr>
          <p:nvPr/>
        </p:nvPicPr>
        <p:blipFill>
          <a:blip r:embed="rId4"/>
          <a:srcRect l="6829" t="14150" r="9507" b="54100"/>
          <a:stretch/>
        </p:blipFill>
        <p:spPr>
          <a:xfrm>
            <a:off x="4541146" y="1641986"/>
            <a:ext cx="3638028" cy="2246591"/>
          </a:xfrm>
          <a:prstGeom prst="rect">
            <a:avLst/>
          </a:prstGeom>
        </p:spPr>
      </p:pic>
      <p:pic>
        <p:nvPicPr>
          <p:cNvPr id="7" name="Picture 6">
            <a:extLst>
              <a:ext uri="{FF2B5EF4-FFF2-40B4-BE49-F238E27FC236}">
                <a16:creationId xmlns:a16="http://schemas.microsoft.com/office/drawing/2014/main" id="{411C2B99-3E37-D809-1182-5921A9029868}"/>
              </a:ext>
            </a:extLst>
          </p:cNvPr>
          <p:cNvPicPr>
            <a:picLocks noChangeAspect="1"/>
          </p:cNvPicPr>
          <p:nvPr/>
        </p:nvPicPr>
        <p:blipFill>
          <a:blip r:embed="rId5"/>
          <a:stretch>
            <a:fillRect/>
          </a:stretch>
        </p:blipFill>
        <p:spPr>
          <a:xfrm>
            <a:off x="8380099" y="1641986"/>
            <a:ext cx="3638028" cy="2246591"/>
          </a:xfrm>
          <a:prstGeom prst="rect">
            <a:avLst/>
          </a:prstGeom>
        </p:spPr>
      </p:pic>
      <p:sp>
        <p:nvSpPr>
          <p:cNvPr id="11" name="Rectangle 10">
            <a:extLst>
              <a:ext uri="{FF2B5EF4-FFF2-40B4-BE49-F238E27FC236}">
                <a16:creationId xmlns:a16="http://schemas.microsoft.com/office/drawing/2014/main" id="{621B629F-D692-15A1-D5DF-E08E4D0D95E1}"/>
              </a:ext>
            </a:extLst>
          </p:cNvPr>
          <p:cNvSpPr/>
          <p:nvPr/>
        </p:nvSpPr>
        <p:spPr>
          <a:xfrm>
            <a:off x="287922" y="1641986"/>
            <a:ext cx="558617" cy="581541"/>
          </a:xfrm>
          <a:prstGeom prst="rect">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3600" dirty="0">
                <a:solidFill>
                  <a:schemeClr val="tx1"/>
                </a:solidFill>
              </a:rPr>
              <a:t>A</a:t>
            </a:r>
          </a:p>
        </p:txBody>
      </p:sp>
      <p:sp>
        <p:nvSpPr>
          <p:cNvPr id="13" name="Rectangle 12">
            <a:extLst>
              <a:ext uri="{FF2B5EF4-FFF2-40B4-BE49-F238E27FC236}">
                <a16:creationId xmlns:a16="http://schemas.microsoft.com/office/drawing/2014/main" id="{110718DF-5C9A-D864-794C-6372757EFB52}"/>
              </a:ext>
            </a:extLst>
          </p:cNvPr>
          <p:cNvSpPr/>
          <p:nvPr/>
        </p:nvSpPr>
        <p:spPr>
          <a:xfrm>
            <a:off x="4541146" y="1641986"/>
            <a:ext cx="558617" cy="588739"/>
          </a:xfrm>
          <a:prstGeom prst="rect">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3600" dirty="0">
                <a:solidFill>
                  <a:schemeClr val="tx1"/>
                </a:solidFill>
              </a:rPr>
              <a:t>B</a:t>
            </a:r>
          </a:p>
        </p:txBody>
      </p:sp>
      <p:sp>
        <p:nvSpPr>
          <p:cNvPr id="15" name="Rectangle 14">
            <a:extLst>
              <a:ext uri="{FF2B5EF4-FFF2-40B4-BE49-F238E27FC236}">
                <a16:creationId xmlns:a16="http://schemas.microsoft.com/office/drawing/2014/main" id="{7FAC0253-8374-BE9C-028F-1D470830D98A}"/>
              </a:ext>
            </a:extLst>
          </p:cNvPr>
          <p:cNvSpPr/>
          <p:nvPr/>
        </p:nvSpPr>
        <p:spPr>
          <a:xfrm>
            <a:off x="8380099" y="1641986"/>
            <a:ext cx="558617" cy="588739"/>
          </a:xfrm>
          <a:prstGeom prst="rect">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3600" dirty="0">
                <a:solidFill>
                  <a:schemeClr val="tx1"/>
                </a:solidFill>
              </a:rPr>
              <a:t>C</a:t>
            </a:r>
          </a:p>
        </p:txBody>
      </p:sp>
    </p:spTree>
    <p:extLst>
      <p:ext uri="{BB962C8B-B14F-4D97-AF65-F5344CB8AC3E}">
        <p14:creationId xmlns:p14="http://schemas.microsoft.com/office/powerpoint/2010/main" val="3535603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drawing" descr="A molecule model with a green diamond&#10;&#10;AI-generated content may be incorrect.">
            <a:extLst>
              <a:ext uri="{FF2B5EF4-FFF2-40B4-BE49-F238E27FC236}">
                <a16:creationId xmlns:a16="http://schemas.microsoft.com/office/drawing/2014/main" id="{7B4526D3-DAAA-D241-7639-3386D4C6C957}"/>
              </a:ext>
            </a:extLst>
          </p:cNvPr>
          <p:cNvPicPr>
            <a:picLocks noChangeAspect="1"/>
          </p:cNvPicPr>
          <p:nvPr/>
        </p:nvPicPr>
        <p:blipFill>
          <a:blip r:embed="rId2">
            <a:extLst>
              <a:ext uri="{28A0092B-C50C-407E-A947-70E740481C1C}">
                <a14:useLocalDpi xmlns:a14="http://schemas.microsoft.com/office/drawing/2010/main"/>
              </a:ext>
            </a:extLst>
          </a:blip>
          <a:srcRect l="8416" t="36312" r="15629" b="15783"/>
          <a:stretch/>
        </p:blipFill>
        <p:spPr>
          <a:xfrm>
            <a:off x="537121" y="1458687"/>
            <a:ext cx="5901612" cy="3505200"/>
          </a:xfrm>
          <a:prstGeom prst="rect">
            <a:avLst/>
          </a:prstGeom>
        </p:spPr>
      </p:pic>
      <p:pic>
        <p:nvPicPr>
          <p:cNvPr id="5" name="drawing" descr="A green and white object in a circle&#10;&#10;AI-generated content may be incorrect.">
            <a:extLst>
              <a:ext uri="{FF2B5EF4-FFF2-40B4-BE49-F238E27FC236}">
                <a16:creationId xmlns:a16="http://schemas.microsoft.com/office/drawing/2014/main" id="{A10D00D9-D6A5-69CA-7BD7-F5EE71323BCB}"/>
              </a:ext>
            </a:extLst>
          </p:cNvPr>
          <p:cNvPicPr>
            <a:picLocks noChangeAspect="1"/>
          </p:cNvPicPr>
          <p:nvPr/>
        </p:nvPicPr>
        <p:blipFill>
          <a:blip r:embed="rId3">
            <a:extLst>
              <a:ext uri="{28A0092B-C50C-407E-A947-70E740481C1C}">
                <a14:useLocalDpi xmlns:a14="http://schemas.microsoft.com/office/drawing/2010/main"/>
              </a:ext>
            </a:extLst>
          </a:blip>
          <a:srcRect l="24238" t="485" r="13968" b="11428"/>
          <a:stretch/>
        </p:blipFill>
        <p:spPr>
          <a:xfrm>
            <a:off x="6636376" y="1458687"/>
            <a:ext cx="3544148" cy="3505200"/>
          </a:xfrm>
          <a:prstGeom prst="rect">
            <a:avLst/>
          </a:prstGeom>
        </p:spPr>
      </p:pic>
      <p:sp>
        <p:nvSpPr>
          <p:cNvPr id="2" name="Rectangle 1">
            <a:extLst>
              <a:ext uri="{FF2B5EF4-FFF2-40B4-BE49-F238E27FC236}">
                <a16:creationId xmlns:a16="http://schemas.microsoft.com/office/drawing/2014/main" id="{6A20E3AD-67D1-6755-EF3C-598EB27DB759}"/>
              </a:ext>
            </a:extLst>
          </p:cNvPr>
          <p:cNvSpPr/>
          <p:nvPr/>
        </p:nvSpPr>
        <p:spPr>
          <a:xfrm>
            <a:off x="537121" y="1458687"/>
            <a:ext cx="955372" cy="904503"/>
          </a:xfrm>
          <a:prstGeom prst="rect">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6600" dirty="0">
                <a:solidFill>
                  <a:schemeClr val="tx1"/>
                </a:solidFill>
              </a:rPr>
              <a:t>A</a:t>
            </a:r>
          </a:p>
        </p:txBody>
      </p:sp>
      <p:sp>
        <p:nvSpPr>
          <p:cNvPr id="8" name="Rectangle 7">
            <a:extLst>
              <a:ext uri="{FF2B5EF4-FFF2-40B4-BE49-F238E27FC236}">
                <a16:creationId xmlns:a16="http://schemas.microsoft.com/office/drawing/2014/main" id="{E438D40B-A03B-F20A-7F2E-E5FBAD4D3CF1}"/>
              </a:ext>
            </a:extLst>
          </p:cNvPr>
          <p:cNvSpPr/>
          <p:nvPr/>
        </p:nvSpPr>
        <p:spPr>
          <a:xfrm>
            <a:off x="6618724" y="1458687"/>
            <a:ext cx="955372" cy="904503"/>
          </a:xfrm>
          <a:prstGeom prst="rect">
            <a:avLst/>
          </a:prstGeom>
          <a:solidFill>
            <a:schemeClr val="bg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6600" dirty="0">
                <a:solidFill>
                  <a:schemeClr val="tx1"/>
                </a:solidFill>
              </a:rPr>
              <a:t>B</a:t>
            </a:r>
          </a:p>
        </p:txBody>
      </p:sp>
    </p:spTree>
    <p:extLst>
      <p:ext uri="{BB962C8B-B14F-4D97-AF65-F5344CB8AC3E}">
        <p14:creationId xmlns:p14="http://schemas.microsoft.com/office/powerpoint/2010/main" val="777772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1053</TotalTime>
  <Words>702</Words>
  <Application>Microsoft Macintosh PowerPoint</Application>
  <PresentationFormat>Widescreen</PresentationFormat>
  <Paragraphs>84</Paragraphs>
  <Slides>10</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Google Sans</vt: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 Strand</dc:creator>
  <cp:lastModifiedBy>Sara Strand</cp:lastModifiedBy>
  <cp:revision>17</cp:revision>
  <dcterms:created xsi:type="dcterms:W3CDTF">2026-07-15T13:09:42Z</dcterms:created>
  <dcterms:modified xsi:type="dcterms:W3CDTF">2026-07-16T10:06:25Z</dcterms:modified>
</cp:coreProperties>
</file>