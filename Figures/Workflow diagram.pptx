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6840538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72"/>
    <p:restoredTop sz="94624"/>
  </p:normalViewPr>
  <p:slideViewPr>
    <p:cSldViewPr snapToGrid="0">
      <p:cViewPr varScale="1">
        <p:scale>
          <a:sx n="78" d="100"/>
          <a:sy n="78" d="100"/>
        </p:scale>
        <p:origin x="1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40D0A-FB26-714F-8E6B-E17DEAC89633}" type="datetimeFigureOut">
              <a:rPr lang="en-JP" smtClean="0"/>
              <a:t>2026/07/15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01875" y="1143000"/>
            <a:ext cx="2254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2961B-B4A1-1D49-9625-3F9D5BFD6197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60269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041" y="1531818"/>
            <a:ext cx="5814457" cy="3258632"/>
          </a:xfrm>
        </p:spPr>
        <p:txBody>
          <a:bodyPr anchor="b"/>
          <a:lstStyle>
            <a:lvl1pPr algn="ctr">
              <a:defRPr sz="448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067" y="4916115"/>
            <a:ext cx="5130404" cy="2259809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031" indent="0" algn="ctr">
              <a:buNone/>
              <a:defRPr sz="1496"/>
            </a:lvl2pPr>
            <a:lvl3pPr marL="684063" indent="0" algn="ctr">
              <a:buNone/>
              <a:defRPr sz="1347"/>
            </a:lvl3pPr>
            <a:lvl4pPr marL="1026094" indent="0" algn="ctr">
              <a:buNone/>
              <a:defRPr sz="1197"/>
            </a:lvl4pPr>
            <a:lvl5pPr marL="1368125" indent="0" algn="ctr">
              <a:buNone/>
              <a:defRPr sz="1197"/>
            </a:lvl5pPr>
            <a:lvl6pPr marL="1710157" indent="0" algn="ctr">
              <a:buNone/>
              <a:defRPr sz="1197"/>
            </a:lvl6pPr>
            <a:lvl7pPr marL="2052188" indent="0" algn="ctr">
              <a:buNone/>
              <a:defRPr sz="1197"/>
            </a:lvl7pPr>
            <a:lvl8pPr marL="2394219" indent="0" algn="ctr">
              <a:buNone/>
              <a:defRPr sz="1197"/>
            </a:lvl8pPr>
            <a:lvl9pPr marL="2736251" indent="0" algn="ctr">
              <a:buNone/>
              <a:defRPr sz="119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8B9-D279-4040-AD53-5CBEAB77174C}" type="datetimeFigureOut">
              <a:rPr lang="en-JP" smtClean="0"/>
              <a:t>2026/07/15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77AC-333D-9C4A-A563-2FF9F881F91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75515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8B9-D279-4040-AD53-5CBEAB77174C}" type="datetimeFigureOut">
              <a:rPr lang="en-JP" smtClean="0"/>
              <a:t>2026/07/15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77AC-333D-9C4A-A563-2FF9F881F91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16033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5" y="2333478"/>
            <a:ext cx="5899964" cy="3893458"/>
          </a:xfrm>
        </p:spPr>
        <p:txBody>
          <a:bodyPr anchor="b"/>
          <a:lstStyle>
            <a:lvl1pPr>
              <a:defRPr sz="448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5" y="6263769"/>
            <a:ext cx="5899964" cy="2047477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1pPr>
            <a:lvl2pPr marL="342031" indent="0">
              <a:buNone/>
              <a:defRPr sz="1496">
                <a:solidFill>
                  <a:schemeClr val="tx1">
                    <a:tint val="82000"/>
                  </a:schemeClr>
                </a:solidFill>
              </a:defRPr>
            </a:lvl2pPr>
            <a:lvl3pPr marL="684063" indent="0">
              <a:buNone/>
              <a:defRPr sz="1347">
                <a:solidFill>
                  <a:schemeClr val="tx1">
                    <a:tint val="82000"/>
                  </a:schemeClr>
                </a:solidFill>
              </a:defRPr>
            </a:lvl3pPr>
            <a:lvl4pPr marL="1026094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4pPr>
            <a:lvl5pPr marL="1368125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5pPr>
            <a:lvl6pPr marL="1710157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6pPr>
            <a:lvl7pPr marL="2052188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7pPr>
            <a:lvl8pPr marL="2394219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8pPr>
            <a:lvl9pPr marL="2736251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8B9-D279-4040-AD53-5CBEAB77174C}" type="datetimeFigureOut">
              <a:rPr lang="en-JP" smtClean="0"/>
              <a:t>2026/07/15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77AC-333D-9C4A-A563-2FF9F881F91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1063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287" y="2491640"/>
            <a:ext cx="2907229" cy="59387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3022" y="2491640"/>
            <a:ext cx="2907229" cy="59387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8B9-D279-4040-AD53-5CBEAB77174C}" type="datetimeFigureOut">
              <a:rPr lang="en-JP" smtClean="0"/>
              <a:t>2026/07/15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77AC-333D-9C4A-A563-2FF9F881F91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77078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498330"/>
            <a:ext cx="5899964" cy="180914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179" y="2294476"/>
            <a:ext cx="2893868" cy="1124487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9" y="3418964"/>
            <a:ext cx="2893868" cy="50287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63023" y="2294476"/>
            <a:ext cx="2908120" cy="1124487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63023" y="3418964"/>
            <a:ext cx="2908120" cy="502878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8B9-D279-4040-AD53-5CBEAB77174C}" type="datetimeFigureOut">
              <a:rPr lang="en-JP" smtClean="0"/>
              <a:t>2026/07/15</a:t>
            </a:fld>
            <a:endParaRPr lang="en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77AC-333D-9C4A-A563-2FF9F881F91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5836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8B9-D279-4040-AD53-5CBEAB77174C}" type="datetimeFigureOut">
              <a:rPr lang="en-JP" smtClean="0"/>
              <a:t>2026/07/15</a:t>
            </a:fld>
            <a:endParaRPr lang="en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77AC-333D-9C4A-A563-2FF9F881F91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86646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8B9-D279-4040-AD53-5CBEAB77174C}" type="datetimeFigureOut">
              <a:rPr lang="en-JP" smtClean="0"/>
              <a:t>2026/07/15</a:t>
            </a:fld>
            <a:endParaRPr lang="en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77AC-333D-9C4A-A563-2FF9F881F91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747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623993"/>
            <a:ext cx="2206252" cy="2183977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120" y="1347654"/>
            <a:ext cx="3463022" cy="6651596"/>
          </a:xfrm>
        </p:spPr>
        <p:txBody>
          <a:bodyPr/>
          <a:lstStyle>
            <a:lvl1pPr>
              <a:defRPr sz="2394"/>
            </a:lvl1pPr>
            <a:lvl2pPr>
              <a:defRPr sz="2095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2807970"/>
            <a:ext cx="2206252" cy="5202112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8B9-D279-4040-AD53-5CBEAB77174C}" type="datetimeFigureOut">
              <a:rPr lang="en-JP" smtClean="0"/>
              <a:t>2026/07/15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77AC-333D-9C4A-A563-2FF9F881F91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0244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623993"/>
            <a:ext cx="2206252" cy="2183977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08120" y="1347654"/>
            <a:ext cx="3463022" cy="6651596"/>
          </a:xfrm>
        </p:spPr>
        <p:txBody>
          <a:bodyPr anchor="t"/>
          <a:lstStyle>
            <a:lvl1pPr marL="0" indent="0">
              <a:buNone/>
              <a:defRPr sz="2394"/>
            </a:lvl1pPr>
            <a:lvl2pPr marL="342031" indent="0">
              <a:buNone/>
              <a:defRPr sz="2095"/>
            </a:lvl2pPr>
            <a:lvl3pPr marL="684063" indent="0">
              <a:buNone/>
              <a:defRPr sz="1795"/>
            </a:lvl3pPr>
            <a:lvl4pPr marL="1026094" indent="0">
              <a:buNone/>
              <a:defRPr sz="1496"/>
            </a:lvl4pPr>
            <a:lvl5pPr marL="1368125" indent="0">
              <a:buNone/>
              <a:defRPr sz="1496"/>
            </a:lvl5pPr>
            <a:lvl6pPr marL="1710157" indent="0">
              <a:buNone/>
              <a:defRPr sz="1496"/>
            </a:lvl6pPr>
            <a:lvl7pPr marL="2052188" indent="0">
              <a:buNone/>
              <a:defRPr sz="1496"/>
            </a:lvl7pPr>
            <a:lvl8pPr marL="2394219" indent="0">
              <a:buNone/>
              <a:defRPr sz="1496"/>
            </a:lvl8pPr>
            <a:lvl9pPr marL="2736251" indent="0">
              <a:buNone/>
              <a:defRPr sz="149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2807970"/>
            <a:ext cx="2206252" cy="5202112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8B9-D279-4040-AD53-5CBEAB77174C}" type="datetimeFigureOut">
              <a:rPr lang="en-JP" smtClean="0"/>
              <a:t>2026/07/15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77AC-333D-9C4A-A563-2FF9F881F91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89709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8B9-D279-4040-AD53-5CBEAB77174C}" type="datetimeFigureOut">
              <a:rPr lang="en-JP" smtClean="0"/>
              <a:t>2026/07/15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77AC-333D-9C4A-A563-2FF9F881F91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6970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95260" y="498328"/>
            <a:ext cx="1474991" cy="793208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288" y="498328"/>
            <a:ext cx="4339466" cy="793208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18B9-D279-4040-AD53-5CBEAB77174C}" type="datetimeFigureOut">
              <a:rPr lang="en-JP" smtClean="0"/>
              <a:t>2026/07/15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77AC-333D-9C4A-A563-2FF9F881F91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74746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287" y="498330"/>
            <a:ext cx="5899964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287" y="2491640"/>
            <a:ext cx="5899964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287" y="8675243"/>
            <a:ext cx="1539121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0F18B9-D279-4040-AD53-5CBEAB77174C}" type="datetimeFigureOut">
              <a:rPr lang="en-JP" smtClean="0"/>
              <a:t>2026/07/15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928" y="8675243"/>
            <a:ext cx="2308682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1130" y="8675243"/>
            <a:ext cx="1539121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5F77AC-333D-9C4A-A563-2FF9F881F91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43678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4063" rtl="0" eaLnBrk="1" latinLnBrk="0" hangingPunct="1">
        <a:lnSpc>
          <a:spcPct val="90000"/>
        </a:lnSpc>
        <a:spcBef>
          <a:spcPct val="0"/>
        </a:spcBef>
        <a:buNone/>
        <a:defRPr sz="32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016" indent="-171016" algn="l" defTabSz="684063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095" kern="1200">
          <a:solidFill>
            <a:schemeClr val="tx1"/>
          </a:solidFill>
          <a:latin typeface="+mn-lt"/>
          <a:ea typeface="+mn-ea"/>
          <a:cs typeface="+mn-cs"/>
        </a:defRPr>
      </a:lvl1pPr>
      <a:lvl2pPr marL="513047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855078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3pPr>
      <a:lvl4pPr marL="1197110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539141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881172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223204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565235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907266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1pPr>
      <a:lvl2pPr marL="342031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2pPr>
      <a:lvl3pPr marL="684063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3pPr>
      <a:lvl4pPr marL="1026094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368125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710157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052188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394219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736251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1D0F544-5E37-15CB-0E0E-E57320FAEE60}"/>
              </a:ext>
            </a:extLst>
          </p:cNvPr>
          <p:cNvSpPr/>
          <p:nvPr/>
        </p:nvSpPr>
        <p:spPr>
          <a:xfrm>
            <a:off x="168911" y="195316"/>
            <a:ext cx="1947121" cy="245849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200" b="1" dirty="0">
                <a:solidFill>
                  <a:schemeClr val="tx1"/>
                </a:solidFill>
              </a:rPr>
              <a:t>1. Data Collection </a:t>
            </a: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r>
              <a:rPr lang="en-JP" sz="1100" dirty="0">
                <a:solidFill>
                  <a:schemeClr val="tx1"/>
                </a:solidFill>
              </a:rPr>
              <a:t>Extract molecular structures as SMILES from ChEMBL database</a:t>
            </a:r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</p:txBody>
      </p:sp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CD65162C-6EF1-3EEF-B9C1-FBD245E97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157" y="1534877"/>
            <a:ext cx="747472" cy="7474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A7CDB1-5AF7-56F8-50F2-7FF9B416CA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94" t="79165" r="72933" b="9997"/>
          <a:stretch/>
        </p:blipFill>
        <p:spPr>
          <a:xfrm>
            <a:off x="971780" y="1517383"/>
            <a:ext cx="1086917" cy="7131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07AC48-FB95-2BC4-1600-E160004FC2C7}"/>
              </a:ext>
            </a:extLst>
          </p:cNvPr>
          <p:cNvSpPr txBox="1"/>
          <p:nvPr/>
        </p:nvSpPr>
        <p:spPr>
          <a:xfrm>
            <a:off x="916383" y="2151303"/>
            <a:ext cx="1210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00" dirty="0">
                <a:solidFill>
                  <a:srgbClr val="000000"/>
                </a:solidFill>
                <a:latin typeface="Menlo" panose="020B0609030804020204" pitchFamily="49" charset="0"/>
              </a:rPr>
              <a:t>SMILES: CCSC(=N)Nc1ccccc1Br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5962A1-2A78-31CF-21B8-E4E6F0EA1FE3}"/>
              </a:ext>
            </a:extLst>
          </p:cNvPr>
          <p:cNvCxnSpPr>
            <a:cxnSpLocks/>
          </p:cNvCxnSpPr>
          <p:nvPr/>
        </p:nvCxnSpPr>
        <p:spPr>
          <a:xfrm>
            <a:off x="868629" y="1908613"/>
            <a:ext cx="2058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2C563B5-E58F-6335-DE14-8C09AC512AEE}"/>
              </a:ext>
            </a:extLst>
          </p:cNvPr>
          <p:cNvSpPr/>
          <p:nvPr/>
        </p:nvSpPr>
        <p:spPr>
          <a:xfrm>
            <a:off x="206360" y="5687803"/>
            <a:ext cx="1742926" cy="55721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100" dirty="0">
                <a:solidFill>
                  <a:schemeClr val="tx1"/>
                </a:solidFill>
              </a:rPr>
              <a:t>SMIFS</a:t>
            </a:r>
          </a:p>
          <a:p>
            <a:pPr algn="ctr"/>
            <a:r>
              <a:rPr lang="en-JP" sz="1100" dirty="0">
                <a:solidFill>
                  <a:schemeClr val="tx1"/>
                </a:solidFill>
              </a:rPr>
              <a:t>(.chem)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6412B14-02F2-9EF2-DF18-D2B8BA8F3310}"/>
              </a:ext>
            </a:extLst>
          </p:cNvPr>
          <p:cNvSpPr/>
          <p:nvPr/>
        </p:nvSpPr>
        <p:spPr>
          <a:xfrm>
            <a:off x="2548805" y="5687803"/>
            <a:ext cx="1742926" cy="55721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100" dirty="0">
                <a:solidFill>
                  <a:schemeClr val="tx1"/>
                </a:solidFill>
              </a:rPr>
              <a:t>Molecular Structures (.pdb)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ED1F5C-9019-D7BB-FA45-DDB1BF93AC16}"/>
              </a:ext>
            </a:extLst>
          </p:cNvPr>
          <p:cNvCxnSpPr>
            <a:cxnSpLocks/>
          </p:cNvCxnSpPr>
          <p:nvPr/>
        </p:nvCxnSpPr>
        <p:spPr>
          <a:xfrm>
            <a:off x="1452369" y="5117564"/>
            <a:ext cx="0" cy="244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8D4C62-5E93-702E-55F7-F45AE2098630}"/>
              </a:ext>
            </a:extLst>
          </p:cNvPr>
          <p:cNvCxnSpPr>
            <a:cxnSpLocks/>
          </p:cNvCxnSpPr>
          <p:nvPr/>
        </p:nvCxnSpPr>
        <p:spPr>
          <a:xfrm>
            <a:off x="3401436" y="5117564"/>
            <a:ext cx="0" cy="244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E98E840-ED03-2E6A-D675-22135BC4FBCC}"/>
              </a:ext>
            </a:extLst>
          </p:cNvPr>
          <p:cNvSpPr/>
          <p:nvPr/>
        </p:nvSpPr>
        <p:spPr>
          <a:xfrm>
            <a:off x="929643" y="6633633"/>
            <a:ext cx="2702841" cy="55721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100" dirty="0">
                <a:solidFill>
                  <a:schemeClr val="tx1"/>
                </a:solidFill>
              </a:rPr>
              <a:t>Machine Learning Model Training Dataset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9F6E9A-96E1-CB11-3F87-CA1A1E0E0385}"/>
              </a:ext>
            </a:extLst>
          </p:cNvPr>
          <p:cNvCxnSpPr>
            <a:cxnSpLocks/>
          </p:cNvCxnSpPr>
          <p:nvPr/>
        </p:nvCxnSpPr>
        <p:spPr>
          <a:xfrm>
            <a:off x="6108491" y="1146518"/>
            <a:ext cx="1282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EA95D36-1C2A-472F-013B-57B55FA0E5C6}"/>
              </a:ext>
            </a:extLst>
          </p:cNvPr>
          <p:cNvSpPr/>
          <p:nvPr/>
        </p:nvSpPr>
        <p:spPr>
          <a:xfrm>
            <a:off x="2447898" y="195316"/>
            <a:ext cx="1947121" cy="245849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200" b="1" dirty="0">
                <a:solidFill>
                  <a:schemeClr val="tx1"/>
                </a:solidFill>
              </a:rPr>
              <a:t>2. Data Filtering </a:t>
            </a: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r>
              <a:rPr lang="en-JP" sz="1100" dirty="0">
                <a:solidFill>
                  <a:schemeClr val="tx1"/>
                </a:solidFill>
              </a:rPr>
              <a:t>Retain single organic drug-like molecules with </a:t>
            </a:r>
            <a:r>
              <a:rPr lang="en-GB" sz="1100" dirty="0">
                <a:solidFill>
                  <a:schemeClr val="tx1"/>
                </a:solidFill>
              </a:rPr>
              <a:t>≤34 heavy atoms </a:t>
            </a:r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C393047-D4AA-81C4-759C-6C95CE0A4FAF}"/>
              </a:ext>
            </a:extLst>
          </p:cNvPr>
          <p:cNvSpPr/>
          <p:nvPr/>
        </p:nvSpPr>
        <p:spPr>
          <a:xfrm>
            <a:off x="4725334" y="195316"/>
            <a:ext cx="1947122" cy="245848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200" b="1" dirty="0">
                <a:solidFill>
                  <a:schemeClr val="tx1"/>
                </a:solidFill>
              </a:rPr>
              <a:t>3. 3D Conformer Generation</a:t>
            </a: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r>
              <a:rPr lang="en-JP" sz="1100" dirty="0">
                <a:solidFill>
                  <a:schemeClr val="tx1"/>
                </a:solidFill>
              </a:rPr>
              <a:t>Convert SMILES structures to 3D conformations</a:t>
            </a: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FF47C9-993B-7E96-977F-3B7D6BAE5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411" y="1595533"/>
            <a:ext cx="1464002" cy="686816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97BB74-083C-1982-B977-66ED3A84CA37}"/>
              </a:ext>
            </a:extLst>
          </p:cNvPr>
          <p:cNvSpPr/>
          <p:nvPr/>
        </p:nvSpPr>
        <p:spPr>
          <a:xfrm>
            <a:off x="4725334" y="2936001"/>
            <a:ext cx="1947122" cy="245848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200" b="1" dirty="0">
                <a:solidFill>
                  <a:schemeClr val="tx1"/>
                </a:solidFill>
              </a:rPr>
              <a:t>4. Feature Extraction</a:t>
            </a: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r>
              <a:rPr lang="en-JP" sz="1100" dirty="0">
                <a:solidFill>
                  <a:schemeClr val="tx1"/>
                </a:solidFill>
              </a:rPr>
              <a:t>Compute physiochemical features relevant to RNA-ligand interactions</a:t>
            </a: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768A88D-3D4C-319F-3EAD-EA9CDB1428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776" b="55552"/>
          <a:stretch/>
        </p:blipFill>
        <p:spPr>
          <a:xfrm>
            <a:off x="4758631" y="4027204"/>
            <a:ext cx="1804695" cy="711508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0E4B1F6-CB19-FA07-FB6B-7B4C0940FB6A}"/>
              </a:ext>
            </a:extLst>
          </p:cNvPr>
          <p:cNvSpPr/>
          <p:nvPr/>
        </p:nvSpPr>
        <p:spPr>
          <a:xfrm>
            <a:off x="2447344" y="2934557"/>
            <a:ext cx="1945849" cy="24565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200" b="1" dirty="0">
                <a:solidFill>
                  <a:schemeClr val="tx1"/>
                </a:solidFill>
              </a:rPr>
              <a:t>5. Standardize Molecules</a:t>
            </a: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r>
              <a:rPr lang="en-JP" sz="1100" dirty="0">
                <a:solidFill>
                  <a:schemeClr val="tx1"/>
                </a:solidFill>
              </a:rPr>
              <a:t>Translate molecules to their center of mass and align along principal axes to remove variations in spatial orientatin</a:t>
            </a: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ED77536-4A58-012D-0F9B-34CC11E09B6D}"/>
              </a:ext>
            </a:extLst>
          </p:cNvPr>
          <p:cNvSpPr/>
          <p:nvPr/>
        </p:nvSpPr>
        <p:spPr>
          <a:xfrm>
            <a:off x="155826" y="2934557"/>
            <a:ext cx="1945847" cy="245659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200" b="1" dirty="0">
                <a:solidFill>
                  <a:schemeClr val="tx1"/>
                </a:solidFill>
              </a:rPr>
              <a:t>6. SMIF Generation</a:t>
            </a: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r>
              <a:rPr lang="en-JP" sz="1100" dirty="0">
                <a:solidFill>
                  <a:schemeClr val="tx1"/>
                </a:solidFill>
              </a:rPr>
              <a:t>Generate SMIFs using SMIFFer framework to encode 3D interaction fields</a:t>
            </a:r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  <a:p>
            <a:pPr algn="ctr"/>
            <a:endParaRPr lang="en-JP" sz="1200" dirty="0">
              <a:solidFill>
                <a:schemeClr val="tx1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7EBCC82-B5D5-B50C-8947-41B97BEF8D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250" y="4162853"/>
            <a:ext cx="1320997" cy="99566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63BE7AA-6531-EC96-025F-DBBF043B1D8F}"/>
              </a:ext>
            </a:extLst>
          </p:cNvPr>
          <p:cNvCxnSpPr>
            <a:cxnSpLocks/>
          </p:cNvCxnSpPr>
          <p:nvPr/>
        </p:nvCxnSpPr>
        <p:spPr>
          <a:xfrm>
            <a:off x="2281064" y="6386504"/>
            <a:ext cx="0" cy="2110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eft Bracket 23">
            <a:extLst>
              <a:ext uri="{FF2B5EF4-FFF2-40B4-BE49-F238E27FC236}">
                <a16:creationId xmlns:a16="http://schemas.microsoft.com/office/drawing/2014/main" id="{21BB122E-65E6-CB2F-C4C7-0C6FC6015A59}"/>
              </a:ext>
            </a:extLst>
          </p:cNvPr>
          <p:cNvSpPr/>
          <p:nvPr/>
        </p:nvSpPr>
        <p:spPr>
          <a:xfrm rot="16200000">
            <a:off x="2218841" y="5132340"/>
            <a:ext cx="109777" cy="2398550"/>
          </a:xfrm>
          <a:prstGeom prst="leftBracket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JP" sz="1801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3055F4-8BF4-FCFC-57E8-9C2AD9232B74}"/>
              </a:ext>
            </a:extLst>
          </p:cNvPr>
          <p:cNvCxnSpPr>
            <a:cxnSpLocks/>
          </p:cNvCxnSpPr>
          <p:nvPr/>
        </p:nvCxnSpPr>
        <p:spPr>
          <a:xfrm>
            <a:off x="2163873" y="1545058"/>
            <a:ext cx="2453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0602305-D518-42E1-1B27-71AB64B9B24F}"/>
              </a:ext>
            </a:extLst>
          </p:cNvPr>
          <p:cNvCxnSpPr>
            <a:cxnSpLocks/>
          </p:cNvCxnSpPr>
          <p:nvPr/>
        </p:nvCxnSpPr>
        <p:spPr>
          <a:xfrm>
            <a:off x="6983506" y="2398479"/>
            <a:ext cx="0" cy="2126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A44273-4A8A-3871-6A08-BDF7755DCD40}"/>
              </a:ext>
            </a:extLst>
          </p:cNvPr>
          <p:cNvCxnSpPr>
            <a:cxnSpLocks/>
          </p:cNvCxnSpPr>
          <p:nvPr/>
        </p:nvCxnSpPr>
        <p:spPr>
          <a:xfrm>
            <a:off x="7668999" y="5306086"/>
            <a:ext cx="2214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Filter with solid fill">
            <a:extLst>
              <a:ext uri="{FF2B5EF4-FFF2-40B4-BE49-F238E27FC236}">
                <a16:creationId xmlns:a16="http://schemas.microsoft.com/office/drawing/2014/main" id="{6BD65C88-C02A-40E0-A622-B57FBE28EB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81600" y="1534877"/>
            <a:ext cx="720378" cy="720378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ADDEF10-B333-C63E-D7BE-298B98719C09}"/>
              </a:ext>
            </a:extLst>
          </p:cNvPr>
          <p:cNvCxnSpPr>
            <a:cxnSpLocks/>
          </p:cNvCxnSpPr>
          <p:nvPr/>
        </p:nvCxnSpPr>
        <p:spPr>
          <a:xfrm flipH="1">
            <a:off x="4429246" y="4179952"/>
            <a:ext cx="25757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1226A862-03D8-9ABA-8D1B-22C7075576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8544" b="-1"/>
          <a:stretch/>
        </p:blipFill>
        <p:spPr>
          <a:xfrm>
            <a:off x="4992411" y="4709898"/>
            <a:ext cx="1337137" cy="650953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A2040A0-0B9E-04D9-C32C-142BAE2687FF}"/>
              </a:ext>
            </a:extLst>
          </p:cNvPr>
          <p:cNvCxnSpPr>
            <a:cxnSpLocks/>
          </p:cNvCxnSpPr>
          <p:nvPr/>
        </p:nvCxnSpPr>
        <p:spPr>
          <a:xfrm>
            <a:off x="4441522" y="1545058"/>
            <a:ext cx="2453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45CE192-77FC-A644-8E11-D17674EEAB5A}"/>
              </a:ext>
            </a:extLst>
          </p:cNvPr>
          <p:cNvCxnSpPr>
            <a:cxnSpLocks/>
          </p:cNvCxnSpPr>
          <p:nvPr/>
        </p:nvCxnSpPr>
        <p:spPr>
          <a:xfrm flipH="1">
            <a:off x="2138342" y="4179952"/>
            <a:ext cx="25757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D1C5412-F594-4AFB-C9BE-824BBE20DF01}"/>
              </a:ext>
            </a:extLst>
          </p:cNvPr>
          <p:cNvCxnSpPr>
            <a:cxnSpLocks/>
          </p:cNvCxnSpPr>
          <p:nvPr/>
        </p:nvCxnSpPr>
        <p:spPr>
          <a:xfrm>
            <a:off x="5766189" y="2689427"/>
            <a:ext cx="0" cy="2043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C0F04DC-8D84-CE62-A6AB-9B9FAB35B4FF}"/>
              </a:ext>
            </a:extLst>
          </p:cNvPr>
          <p:cNvCxnSpPr>
            <a:cxnSpLocks/>
          </p:cNvCxnSpPr>
          <p:nvPr/>
        </p:nvCxnSpPr>
        <p:spPr>
          <a:xfrm>
            <a:off x="1074453" y="5437298"/>
            <a:ext cx="0" cy="2043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E8CBE0F-2CB0-F28B-ADD0-E368B4F4BFC5}"/>
              </a:ext>
            </a:extLst>
          </p:cNvPr>
          <p:cNvCxnSpPr>
            <a:cxnSpLocks/>
          </p:cNvCxnSpPr>
          <p:nvPr/>
        </p:nvCxnSpPr>
        <p:spPr>
          <a:xfrm>
            <a:off x="3483142" y="5437298"/>
            <a:ext cx="0" cy="20435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45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933</TotalTime>
  <Words>105</Words>
  <Application>Microsoft Macintosh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Menlo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Strand</dc:creator>
  <cp:lastModifiedBy>Sara Strand</cp:lastModifiedBy>
  <cp:revision>6</cp:revision>
  <dcterms:created xsi:type="dcterms:W3CDTF">2026-07-12T21:27:35Z</dcterms:created>
  <dcterms:modified xsi:type="dcterms:W3CDTF">2026-07-15T13:09:04Z</dcterms:modified>
</cp:coreProperties>
</file>